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8fdc6e2966e34c7d"/><Relationship Type="http://schemas.openxmlformats.org/officeDocument/2006/relationships/extended-properties" Target="/docProps/app.xml" Id="Rcda38e2da5694f54"/><Relationship Type="http://schemas.openxmlformats.org/officeDocument/2006/relationships/officeDocument" Target="/ppt/presentation.xml" Id="Ra7bc7eb7cb4c41b8"/></Relationships>
</file>

<file path=ppt/presentation.xml><?xml version="1.0" encoding="utf-8"?>
<p:presentation xmlns:p="http://schemas.openxmlformats.org/presentationml/2006/main">
  <p:sldMasterIdLst>
    <p:sldMasterId xmlns:r="http://schemas.openxmlformats.org/officeDocument/2006/relationships" id="2147483648" r:id="R7c82d863ce5e4091"/>
  </p:sldMasterIdLst>
  <p:notesMasterIdLst>
    <p:notesMasterId xmlns:r="http://schemas.openxmlformats.org/officeDocument/2006/relationships" r:id="R38445eb70aed4c6c"/>
  </p:notesMasterIdLst>
  <p:sldIdLst>
    <p:sldId xmlns:r="http://schemas.openxmlformats.org/officeDocument/2006/relationships" id="256" r:id="Re89c70fb26b84f48"/>
    <p:sldId xmlns:r="http://schemas.openxmlformats.org/officeDocument/2006/relationships" id="257" r:id="R8ddbdedbb46e4286"/>
    <p:sldId xmlns:r="http://schemas.openxmlformats.org/officeDocument/2006/relationships" id="258" r:id="Rd313662ab6df4a0d"/>
    <p:sldId xmlns:r="http://schemas.openxmlformats.org/officeDocument/2006/relationships" id="259" r:id="R7186e4fa1b0c4155"/>
    <p:sldId xmlns:r="http://schemas.openxmlformats.org/officeDocument/2006/relationships" id="260" r:id="R240ad4f387694709"/>
    <p:sldId xmlns:r="http://schemas.openxmlformats.org/officeDocument/2006/relationships" id="261" r:id="R4a9ddf4b03e54ee8"/>
    <p:sldId xmlns:r="http://schemas.openxmlformats.org/officeDocument/2006/relationships" id="262" r:id="R1414917acd7744a1"/>
    <p:sldId xmlns:r="http://schemas.openxmlformats.org/officeDocument/2006/relationships" id="263" r:id="R9a82491ef0c346e8"/>
    <p:sldId xmlns:r="http://schemas.openxmlformats.org/officeDocument/2006/relationships" id="264" r:id="Ra299c50eba1d4df3"/>
    <p:sldId xmlns:r="http://schemas.openxmlformats.org/officeDocument/2006/relationships" id="265" r:id="Rfa2bcef0c1984855"/>
    <p:sldId xmlns:r="http://schemas.openxmlformats.org/officeDocument/2006/relationships" id="266" r:id="R78f34f462501462c"/>
    <p:sldId xmlns:r="http://schemas.openxmlformats.org/officeDocument/2006/relationships" id="267" r:id="R334b3c05c3c94438"/>
    <p:sldId xmlns:r="http://schemas.openxmlformats.org/officeDocument/2006/relationships" id="268" r:id="R47a3f5641b5842fa"/>
    <p:sldId xmlns:r="http://schemas.openxmlformats.org/officeDocument/2006/relationships" id="269" r:id="Rb1f76413de3945d7"/>
    <p:sldId xmlns:r="http://schemas.openxmlformats.org/officeDocument/2006/relationships" id="270" r:id="R60f5aff244994560"/>
    <p:sldId xmlns:r="http://schemas.openxmlformats.org/officeDocument/2006/relationships" id="271" r:id="R632c8d9694a44d7a"/>
    <p:sldId xmlns:r="http://schemas.openxmlformats.org/officeDocument/2006/relationships" id="272" r:id="R0f94616028434d79"/>
    <p:sldId xmlns:r="http://schemas.openxmlformats.org/officeDocument/2006/relationships" id="273" r:id="R873992f3c8ac40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theme" Target="/ppt/theme/theme1.xml" Id="Rd07c16e6d5ea4541"/><Relationship Type="http://schemas.openxmlformats.org/officeDocument/2006/relationships/slideMaster" Target="/ppt/slideMasters/slideMaster1.xml" Id="R7c82d863ce5e4091"/><Relationship Type="http://schemas.openxmlformats.org/officeDocument/2006/relationships/notesMaster" Target="/ppt/notesMasters/notesMaster1.xml" Id="R38445eb70aed4c6c"/><Relationship Type="http://schemas.openxmlformats.org/officeDocument/2006/relationships/presProps" Target="/ppt/presProps.xml" Id="Rc60f9cb84ace4dfe"/><Relationship Type="http://schemas.openxmlformats.org/officeDocument/2006/relationships/viewProps" Target="/ppt/viewProps.xml" Id="Rda0bfde80b7148a7"/><Relationship Type="http://schemas.openxmlformats.org/officeDocument/2006/relationships/tableStyles" Target="/ppt/tableStyles.xml" Id="R06056789cb0241ae"/><Relationship Type="http://schemas.openxmlformats.org/officeDocument/2006/relationships/slide" Target="/ppt/slides/slide1.xml" Id="Re89c70fb26b84f48"/><Relationship Type="http://schemas.openxmlformats.org/officeDocument/2006/relationships/slide" Target="/ppt/slides/slide2.xml" Id="R8ddbdedbb46e4286"/><Relationship Type="http://schemas.openxmlformats.org/officeDocument/2006/relationships/slide" Target="/ppt/slides/slide3.xml" Id="Rd313662ab6df4a0d"/><Relationship Type="http://schemas.openxmlformats.org/officeDocument/2006/relationships/slide" Target="/ppt/slides/slide4.xml" Id="R7186e4fa1b0c4155"/><Relationship Type="http://schemas.openxmlformats.org/officeDocument/2006/relationships/slide" Target="/ppt/slides/slide5.xml" Id="R240ad4f387694709"/><Relationship Type="http://schemas.openxmlformats.org/officeDocument/2006/relationships/slide" Target="/ppt/slides/slide6.xml" Id="R4a9ddf4b03e54ee8"/><Relationship Type="http://schemas.openxmlformats.org/officeDocument/2006/relationships/slide" Target="/ppt/slides/slide7.xml" Id="R1414917acd7744a1"/><Relationship Type="http://schemas.openxmlformats.org/officeDocument/2006/relationships/slide" Target="/ppt/slides/slide8.xml" Id="R9a82491ef0c346e8"/><Relationship Type="http://schemas.openxmlformats.org/officeDocument/2006/relationships/slide" Target="/ppt/slides/slide9.xml" Id="Ra299c50eba1d4df3"/><Relationship Type="http://schemas.openxmlformats.org/officeDocument/2006/relationships/slide" Target="/ppt/slides/slide10.xml" Id="Rfa2bcef0c1984855"/><Relationship Type="http://schemas.openxmlformats.org/officeDocument/2006/relationships/slide" Target="/ppt/slides/slide11.xml" Id="R78f34f462501462c"/><Relationship Type="http://schemas.openxmlformats.org/officeDocument/2006/relationships/slide" Target="/ppt/slides/slide12.xml" Id="R334b3c05c3c94438"/><Relationship Type="http://schemas.openxmlformats.org/officeDocument/2006/relationships/slide" Target="/ppt/slides/slide13.xml" Id="R47a3f5641b5842fa"/><Relationship Type="http://schemas.openxmlformats.org/officeDocument/2006/relationships/slide" Target="/ppt/slides/slide14.xml" Id="Rb1f76413de3945d7"/><Relationship Type="http://schemas.openxmlformats.org/officeDocument/2006/relationships/slide" Target="/ppt/slides/slide15.xml" Id="R60f5aff244994560"/><Relationship Type="http://schemas.openxmlformats.org/officeDocument/2006/relationships/slide" Target="/ppt/slides/slide16.xml" Id="R632c8d9694a44d7a"/><Relationship Type="http://schemas.openxmlformats.org/officeDocument/2006/relationships/slide" Target="/ppt/slides/slide17.xml" Id="R0f94616028434d79"/><Relationship Type="http://schemas.openxmlformats.org/officeDocument/2006/relationships/slide" Target="/ppt/slides/slide18.xml" Id="R873992f3c8ac4075"/></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12c66b5c42549ec"/></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af611ea08da84336"/><Relationship Type="http://schemas.openxmlformats.org/officeDocument/2006/relationships/notesMaster" Target="/ppt/notesMasters/notesMaster1.xml" Id="R1dfadb79fdbb4d3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ddde90673284417e"/><Relationship Type="http://schemas.openxmlformats.org/officeDocument/2006/relationships/notesMaster" Target="/ppt/notesMasters/notesMaster1.xml" Id="R732784d057b4463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8dad7d401d2e4f34"/><Relationship Type="http://schemas.openxmlformats.org/officeDocument/2006/relationships/notesMaster" Target="/ppt/notesMasters/notesMaster1.xml" Id="R784be70266ed49e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fe0e24c33da42ea"/><Relationship Type="http://schemas.openxmlformats.org/officeDocument/2006/relationships/notesMaster" Target="/ppt/notesMasters/notesMaster1.xml" Id="R9e5f7eb0f7244b6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4a1e4817dac4df2"/><Relationship Type="http://schemas.openxmlformats.org/officeDocument/2006/relationships/notesMaster" Target="/ppt/notesMasters/notesMaster1.xml" Id="R565dd46cfc8d4452"/></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45ba94a4efbd4583"/><Relationship Type="http://schemas.openxmlformats.org/officeDocument/2006/relationships/notesMaster" Target="/ppt/notesMasters/notesMaster1.xml" Id="R7733a5cc36fa456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fb635885da14379"/><Relationship Type="http://schemas.openxmlformats.org/officeDocument/2006/relationships/notesMaster" Target="/ppt/notesMasters/notesMaster1.xml" Id="R346ed97e0abc4de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3580003fff84420"/><Relationship Type="http://schemas.openxmlformats.org/officeDocument/2006/relationships/notesMaster" Target="/ppt/notesMasters/notesMaster1.xml" Id="R56aa6ef45ef14f37"/></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effc2023d564ae0"/><Relationship Type="http://schemas.openxmlformats.org/officeDocument/2006/relationships/notesMaster" Target="/ppt/notesMasters/notesMaster1.xml" Id="Rdf6ff32200b54f95"/></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2a70cf4a0a64406"/><Relationship Type="http://schemas.openxmlformats.org/officeDocument/2006/relationships/notesMaster" Target="/ppt/notesMasters/notesMaster1.xml" Id="R3e10f229d2b64ad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b65a3c20ba24902"/><Relationship Type="http://schemas.openxmlformats.org/officeDocument/2006/relationships/notesMaster" Target="/ppt/notesMasters/notesMaster1.xml" Id="R834e37e093214945"/></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3a2796fc96b4414"/><Relationship Type="http://schemas.openxmlformats.org/officeDocument/2006/relationships/notesMaster" Target="/ppt/notesMasters/notesMaster1.xml" Id="Rd69b4f4902e64a27"/></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f00b36c4f164d9e"/><Relationship Type="http://schemas.openxmlformats.org/officeDocument/2006/relationships/notesMaster" Target="/ppt/notesMasters/notesMaster1.xml" Id="Rd237d48c5a1c4efe"/></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6ee7fe5d9df14be6"/><Relationship Type="http://schemas.openxmlformats.org/officeDocument/2006/relationships/notesMaster" Target="/ppt/notesMasters/notesMaster1.xml" Id="R1def73611f6347d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f680154bcac46ff"/><Relationship Type="http://schemas.openxmlformats.org/officeDocument/2006/relationships/notesMaster" Target="/ppt/notesMasters/notesMaster1.xml" Id="R00fc7ae8a9ab4571"/></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37135d5e69e4a2b"/><Relationship Type="http://schemas.openxmlformats.org/officeDocument/2006/relationships/notesMaster" Target="/ppt/notesMasters/notesMaster1.xml" Id="Rbca4da34ed0649fe"/></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f97a7f564b784cdc"/><Relationship Type="http://schemas.openxmlformats.org/officeDocument/2006/relationships/notesMaster" Target="/ppt/notesMasters/notesMaster1.xml" Id="R903fb145ecb5444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142d34bfbc341a7"/><Relationship Type="http://schemas.openxmlformats.org/officeDocument/2006/relationships/notesMaster" Target="/ppt/notesMasters/notesMaster1.xml" Id="R240829b7a94c4fe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Case Study. Independent architecture exercise using fictional platforms. Illustrative design, not an internal or production system. Partner means Partner Platform. Provider means Employment Platform. API capabilities, payloads, identifiers, lifecycle states, and roadmap phases are illustrative assumptions, not proprietary contracts or claims of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architecture is a conceptual component view. For inbound webhooks, verify the signature, persist to a durable queue, acknowledge receipt, then process asynchronously. The local state store owns mappings and workflow progress. The provider remains authoritative for employment and compliance records. DLQ means dead-letter 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saga sequence, not a provider endpoint contract. Persist intent and a stable idempotency key before the provider call. Commit the returned provider identifier before inviting the employee. Provider webhooks enter the partner receiver and processor, which update saga state. If a create response is lost, recover the existing provider record before issuing another 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response is an illustrative partner-facing status resource, not a provider payload. A provider identifier and invite action apply only after creation and mapping commit. Before provider creation succeeds, omit the provider identifier and return a pending-create state. Local deduplication alone cannot guarantee exactly-once creation after an ambiguous provider timeout. Recovery needs provider idempotency, a stable searchable external reference, or manual resolution.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names and JSON fields are fictional examples. Monotonic progress is an intended display model for the normal onboarding path, not a guarantee about provider state. Preserve raw provider state and versions. Handle reopened tasks, corrections, holds, and offboarding through explicit transitions and action overlays.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Persist verified events before acknowledging delivery. Deduplicate and apply ordering checks atomically with state updates where possible. Webhooks provide timely notification. Reconciliation repairs missed updates, subject to provider availability and correct mapping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Reconciliation supports eventual convergence when the provider is reachable and mappings and repair rules are correct. Correctness is a design objective, not an unconditional guarantee. Define measurable freshness targets for a future implementation. Escalate unresolved or ambiguous outcomes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Correlation IDs support traceability and origin detection. Prevent feedback loops with origin metadata, field ownership, no-op detection, and durable deduplication together. A correlation ID alone does not prevent duplicate processing.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expansion path is a hypothetical roadmap for this independent exercise. Saga orchestration trades immediate atomicity for durable state, recovery logic, and eventual consistency. Reconciliation adds API load and repair complexity. Normalized states reduce coupling but require versioned mappings and retention of provider detail. Operational monitoring and recovery are prerequisites for the initial phase, even if a partner-facing dashboard comes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0aee84b4b604903"/></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d2101197147b44bd"/></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BASE">
    <p:bg>
      <p:bgPr>
        <a:solidFill xmlns:a="http://schemas.openxmlformats.org/drawingml/2006/main">
          <a:srgbClr val="FBFA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8199B88-BE64-4C4A-9D0F-7C53DFF8B8A8}"/>
              </a:ext>
            </a:extLst>
          </p:cNvPr>
          <p:cNvSpPr>
            <a:spLocks xmlns:a="http://schemas.openxmlformats.org/drawingml/2006/main" noGrp="1"/>
          </p:cNvSpPr>
          <p:nvPr/>
        </p:nvSpPr>
        <p:spPr>
          <a:xfrm xmlns:a="http://schemas.openxmlformats.org/drawingml/2006/main">
            <a:off x="502920" y="6473952"/>
            <a:ext cx="11201400" cy="0"/>
          </a:xfrm>
          <a:prstGeom xmlns:a="http://schemas.openxmlformats.org/drawingml/2006/main" prst="line">
            <a:avLst/>
          </a:prstGeom>
          <a:noFill xmlns:a="http://schemas.openxmlformats.org/drawingml/2006/main"/>
          <a:ln xmlns:a="http://schemas.openxmlformats.org/drawingml/2006/main" w="12700">
            <a:solidFill>
              <a:srgbClr val="E6E2F3"/>
            </a:solidFill>
            <a:prstDash val="solid"/>
          </a:ln>
        </p:spPr>
      </p:sp>
      <p:sp>
        <p:nvSpPr>
          <p:cNvPr id="3" name="Text 1">
            <a:extLst xmlns:a="http://schemas.openxmlformats.org/drawingml/2006/main">
              <a:ext uri="{FF2B5EF4-FFF2-40B4-BE49-F238E27FC236}">
                <a16:creationId xmlns:a16="http://schemas.microsoft.com/office/drawing/2014/main" id="{FE8237E1-BF71-4C8D-BD6E-EBB9C12701D1}"/>
              </a:ext>
            </a:extLst>
          </p:cNvPr>
          <p:cNvSpPr>
            <a:spLocks xmlns:a="http://schemas.openxmlformats.org/drawingml/2006/main" noGrp="1"/>
          </p:cNvSpPr>
          <p:nvPr/>
        </p:nvSpPr>
        <p:spPr>
          <a:xfrm xmlns:a="http://schemas.openxmlformats.org/drawingml/2006/main">
            <a:off x="548640" y="6547104"/>
            <a:ext cx="41148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endParaRPr sz="700"/>
          </a:p>
        </p:txBody>
      </p:sp>
      <p:sp>
        <p:nvSpPr>
          <p:cNvPr id="25" name="Slide Number Placeholder 0">
            <a:extLst xmlns:a="http://schemas.openxmlformats.org/drawingml/2006/main">
              <a:ext uri="{FF2B5EF4-FFF2-40B4-BE49-F238E27FC236}">
                <a16:creationId xmlns:a16="http://schemas.microsoft.com/office/drawing/2014/main" id="{AE98BE18-0400-4C1D-8F33-EADA005BDBB5}"/>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a:t>
            </a:fld>
            <a:endParaRPr/>
          </a:p>
        </p:txBody>
      </p:sp>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759274e4b30747ea"/><Relationship Type="http://schemas.openxmlformats.org/officeDocument/2006/relationships/slideLayout" Target="/ppt/slideLayouts/slideLayout1.xml" Id="R5cc0113f5bb648ab"/><Relationship Type="http://schemas.openxmlformats.org/officeDocument/2006/relationships/slideLayout" Target="/ppt/slideLayouts/slideLayout2.xml" Id="R591306bad09b415d"/></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1577A22B-2268-49C3-B4E9-8CFE724E3568}"/>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c0113f5bb648ab"/>
    <p:sldLayoutId xmlns:r="http://schemas.openxmlformats.org/officeDocument/2006/relationships" id="2147483650" r:id="R591306bad09b415d"/>
  </p:sldLayoutIdLst>
  <p:hf hd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2.xml" Id="Ra1b4a10eb42d4d29"/><Relationship Type="http://schemas.openxmlformats.org/officeDocument/2006/relationships/notesSlide" Target="/ppt/notesSlides/notesSlide1.xml" Id="R943daf73649c402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2.xml" Id="R4c578f196a354736"/><Relationship Type="http://schemas.openxmlformats.org/officeDocument/2006/relationships/image" Target="/ppt/media/image.png" Id="R3d6119b2c1d64c84"/><Relationship Type="http://schemas.openxmlformats.org/officeDocument/2006/relationships/notesSlide" Target="/ppt/notesSlides/notesSlide2.xml" Id="R01c4bfcb09b24448"/></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2.xml" Id="R192309a0ff914d8c"/><Relationship Type="http://schemas.openxmlformats.org/officeDocument/2006/relationships/image" Target="/ppt/media/image2.png" Id="Rdaf79907a598442d"/><Relationship Type="http://schemas.openxmlformats.org/officeDocument/2006/relationships/notesSlide" Target="/ppt/notesSlides/notesSlide3.xml" Id="Rffd41b478a104d8e"/></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2.xml" Id="R8a7d54f3b9184f43"/><Relationship Type="http://schemas.openxmlformats.org/officeDocument/2006/relationships/image" Target="/ppt/media/image3.png" Id="R927da6973dd54115"/><Relationship Type="http://schemas.openxmlformats.org/officeDocument/2006/relationships/notesSlide" Target="/ppt/notesSlides/notesSlide4.xml" Id="R35dc225db4eb4e0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2.xml" Id="R4080528724694f28"/><Relationship Type="http://schemas.openxmlformats.org/officeDocument/2006/relationships/notesSlide" Target="/ppt/notesSlides/notesSlide5.xml" Id="Ra5c02fbe218a40e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2.xml" Id="R7405decb15034cb3"/><Relationship Type="http://schemas.openxmlformats.org/officeDocument/2006/relationships/image" Target="/ppt/media/image4.png" Id="Raaa1c0b01e1d4150"/><Relationship Type="http://schemas.openxmlformats.org/officeDocument/2006/relationships/notesSlide" Target="/ppt/notesSlides/notesSlide6.xml" Id="R72da32e66ef9475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2.xml" Id="R18019dd2ad7441f3"/><Relationship Type="http://schemas.openxmlformats.org/officeDocument/2006/relationships/image" Target="/ppt/media/image5.png" Id="Rd4cea145eacf4837"/><Relationship Type="http://schemas.openxmlformats.org/officeDocument/2006/relationships/notesSlide" Target="/ppt/notesSlides/notesSlide7.xml" Id="R1fe9e8d4a1034a4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2.xml" Id="R2e9f3d49dab841fc"/><Relationship Type="http://schemas.openxmlformats.org/officeDocument/2006/relationships/notesSlide" Target="/ppt/notesSlides/notesSlide8.xml" Id="R3e136ca7d79f4c7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2.xml" Id="Rff9a1f77f91749ad"/><Relationship Type="http://schemas.openxmlformats.org/officeDocument/2006/relationships/image" Target="/ppt/media/image6.png" Id="Rf30e48e4f3f54ff8"/><Relationship Type="http://schemas.openxmlformats.org/officeDocument/2006/relationships/notesSlide" Target="/ppt/notesSlides/notesSlide9.xml" Id="R8aa4f3e62f144fd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2.xml" Id="Rc909839ba95f4bce"/><Relationship Type="http://schemas.openxmlformats.org/officeDocument/2006/relationships/image" Target="/ppt/media/image7.png" Id="R1caa6584d62149c8"/><Relationship Type="http://schemas.openxmlformats.org/officeDocument/2006/relationships/notesSlide" Target="/ppt/notesSlides/notesSlide10.xml" Id="R7e4c7f04dbf0445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2.xml" Id="Ra91d5ee85143418c"/><Relationship Type="http://schemas.openxmlformats.org/officeDocument/2006/relationships/notesSlide" Target="/ppt/notesSlides/notesSlide11.xml" Id="R530b6644b3ea434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2.xml" Id="R10c1ea35da684e98"/><Relationship Type="http://schemas.openxmlformats.org/officeDocument/2006/relationships/image" Target="/ppt/media/image8.png" Id="R426902e15b4041ae"/><Relationship Type="http://schemas.openxmlformats.org/officeDocument/2006/relationships/notesSlide" Target="/ppt/notesSlides/notesSlide12.xml" Id="R7b240797ccff4f5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2.xml" Id="R35a1f4eacb5147a3"/><Relationship Type="http://schemas.openxmlformats.org/officeDocument/2006/relationships/image" Target="/ppt/media/image9.png" Id="Rb633102a7f704ff0"/><Relationship Type="http://schemas.openxmlformats.org/officeDocument/2006/relationships/notesSlide" Target="/ppt/notesSlides/notesSlide13.xml" Id="R42bace2ec7fb431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2.xml" Id="R7d6a65577ebf441f"/><Relationship Type="http://schemas.openxmlformats.org/officeDocument/2006/relationships/notesSlide" Target="/ppt/notesSlides/notesSlide14.xml" Id="Rf4f0e6bce630404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2.xml" Id="R73361d48848d4482"/><Relationship Type="http://schemas.openxmlformats.org/officeDocument/2006/relationships/image" Target="/ppt/media/image10.png" Id="R7274fc27aaa745a3"/><Relationship Type="http://schemas.openxmlformats.org/officeDocument/2006/relationships/notesSlide" Target="/ppt/notesSlides/notesSlide15.xml" Id="R548447d9bfc6400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2.xml" Id="R507513e91c834ee0"/><Relationship Type="http://schemas.openxmlformats.org/officeDocument/2006/relationships/image" Target="/ppt/media/image11.png" Id="R9735a15f6dcf4c54"/><Relationship Type="http://schemas.openxmlformats.org/officeDocument/2006/relationships/notesSlide" Target="/ppt/notesSlides/notesSlide16.xml" Id="Rb58d4e35f63d45e6"/></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2.xml" Id="R98f7e577062841da"/><Relationship Type="http://schemas.openxmlformats.org/officeDocument/2006/relationships/notesSlide" Target="/ppt/notesSlides/notesSlide17.xml" Id="Rc4e5cbf0f1b04418"/></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2.xml" Id="Rc555979154b94210"/><Relationship Type="http://schemas.openxmlformats.org/officeDocument/2006/relationships/notesSlide" Target="/ppt/notesSlides/notesSlide18.xml" Id="Rfbb585d8f7e9491e"/></Relationships>
</file>

<file path=ppt/slides/slide1.xml><?xml version="1.0" encoding="utf-8"?>
<p:sld xmlns:p="http://schemas.openxmlformats.org/presentationml/2006/main">
  <p:cSld>
    <p:bg>
      <p:bgPr>
        <a:solidFill xmlns:a="http://schemas.openxmlformats.org/drawingml/2006/main">
          <a:srgbClr val="211A3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16AA43-B374-4FCE-8FCF-2DFAA9225FCC}"/>
              </a:ext>
            </a:extLst>
          </p:cNvPr>
          <p:cNvSpPr>
            <a:spLocks xmlns:a="http://schemas.openxmlformats.org/drawingml/2006/main" noGrp="1"/>
          </p:cNvSpPr>
          <p:nvPr/>
        </p:nvSpPr>
        <p:spPr>
          <a:xfrm xmlns:a="http://schemas.openxmlformats.org/drawingml/2006/main">
            <a:off x="685800" y="1234440"/>
            <a:ext cx="85000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500" lnSpcReduction="10000"/>
          </a:bodyPr>
          <a:lstStyle xmlns:a="http://schemas.openxmlformats.org/drawingml/2006/main"/>
          <a:p xmlns:a="http://schemas.openxmlformats.org/drawingml/2006/main">
            <a:pPr marL="0" indent="0">
              <a:buNone/>
            </a:pPr>
            <a:r>
              <a:rPr sz="4200" b="1">
                <a:solidFill>
                  <a:srgbClr val="FFFFFF"/>
                </a:solidFill>
                <a:latin typeface="Aptos Display"/>
                <a:ea typeface="Aptos Display"/>
                <a:cs typeface="Aptos Display"/>
              </a:rPr>
              <a:t>Embedded Workforce Platform Integration</a:t>
            </a:r>
            <a:endParaRPr sz="4200"/>
          </a:p>
        </p:txBody>
      </p:sp>
      <p:sp>
        <p:nvSpPr>
          <p:cNvPr id="3" name="Text 1">
            <a:extLst xmlns:a="http://schemas.openxmlformats.org/drawingml/2006/main">
              <a:ext uri="{FF2B5EF4-FFF2-40B4-BE49-F238E27FC236}">
                <a16:creationId xmlns:a16="http://schemas.microsoft.com/office/drawing/2014/main" id="{3FEC907A-A450-48A8-9BE4-3BD206400678}"/>
              </a:ext>
            </a:extLst>
          </p:cNvPr>
          <p:cNvSpPr>
            <a:spLocks xmlns:a="http://schemas.openxmlformats.org/drawingml/2006/main" noGrp="1"/>
          </p:cNvSpPr>
          <p:nvPr/>
        </p:nvSpPr>
        <p:spPr>
          <a:xfrm xmlns:a="http://schemas.openxmlformats.org/drawingml/2006/main">
            <a:off x="713232" y="2743200"/>
            <a:ext cx="10000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D9D2F0"/>
                </a:solidFill>
              </a:rPr>
              <a:t>A resilient onboarding experience connecting partner and employment platforms.</a:t>
            </a:r>
            <a:endParaRPr sz="1600"/>
          </a:p>
        </p:txBody>
      </p:sp>
      <p:sp>
        <p:nvSpPr>
          <p:cNvPr id="4" name="Shape 2">
            <a:extLst xmlns:a="http://schemas.openxmlformats.org/drawingml/2006/main">
              <a:ext uri="{FF2B5EF4-FFF2-40B4-BE49-F238E27FC236}">
                <a16:creationId xmlns:a16="http://schemas.microsoft.com/office/drawing/2014/main" id="{632A74E7-29AA-4AB6-B774-0D93363AA5A6}"/>
              </a:ext>
            </a:extLst>
          </p:cNvPr>
          <p:cNvSpPr>
            <a:spLocks xmlns:a="http://schemas.openxmlformats.org/drawingml/2006/main" noGrp="1"/>
          </p:cNvSpPr>
          <p:nvPr/>
        </p:nvSpPr>
        <p:spPr>
          <a:xfrm xmlns:a="http://schemas.openxmlformats.org/drawingml/2006/main">
            <a:off x="713232" y="3246120"/>
            <a:ext cx="2011680" cy="301752"/>
          </a:xfrm>
          <a:prstGeom xmlns:a="http://schemas.openxmlformats.org/drawingml/2006/main" prst="roundRect">
            <a:avLst>
              <a:gd name="adj" fmla="val 24242"/>
            </a:avLst>
          </a:prstGeom>
          <a:solidFill xmlns:a="http://schemas.openxmlformats.org/drawingml/2006/main">
            <a:srgbClr val="FF6B57"/>
          </a:solidFill>
          <a:ln xmlns:a="http://schemas.openxmlformats.org/drawingml/2006/main" w="12700">
            <a:solidFill>
              <a:srgbClr val="FF6B57"/>
            </a:solidFill>
            <a:prstDash val="solid"/>
          </a:ln>
        </p:spPr>
      </p:sp>
      <p:sp>
        <p:nvSpPr>
          <p:cNvPr id="5" name="Text 3">
            <a:extLst xmlns:a="http://schemas.openxmlformats.org/drawingml/2006/main">
              <a:ext uri="{FF2B5EF4-FFF2-40B4-BE49-F238E27FC236}">
                <a16:creationId xmlns:a16="http://schemas.microsoft.com/office/drawing/2014/main" id="{668D2416-D8D0-4575-B19F-031BD11D0986}"/>
              </a:ext>
            </a:extLst>
          </p:cNvPr>
          <p:cNvSpPr>
            <a:spLocks xmlns:a="http://schemas.openxmlformats.org/drawingml/2006/main" noGrp="1"/>
          </p:cNvSpPr>
          <p:nvPr/>
        </p:nvSpPr>
        <p:spPr>
          <a:xfrm xmlns:a="http://schemas.openxmlformats.org/drawingml/2006/main">
            <a:off x="786384" y="3296412"/>
            <a:ext cx="18653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rPr>
              <a:t>Independent Case Study</a:t>
            </a:r>
            <a:endParaRPr sz="950"/>
          </a:p>
        </p:txBody>
      </p:sp>
      <p:sp>
        <p:nvSpPr>
          <p:cNvPr id="6" name="Shape 4">
            <a:extLst xmlns:a="http://schemas.openxmlformats.org/drawingml/2006/main">
              <a:ext uri="{FF2B5EF4-FFF2-40B4-BE49-F238E27FC236}">
                <a16:creationId xmlns:a16="http://schemas.microsoft.com/office/drawing/2014/main" id="{F3295B0A-4B32-4FAC-B6FD-4B7D5406FCEF}"/>
              </a:ext>
            </a:extLst>
          </p:cNvPr>
          <p:cNvSpPr>
            <a:spLocks xmlns:a="http://schemas.openxmlformats.org/drawingml/2006/main" noGrp="1"/>
          </p:cNvSpPr>
          <p:nvPr/>
        </p:nvSpPr>
        <p:spPr>
          <a:xfrm xmlns:a="http://schemas.openxmlformats.org/drawingml/2006/main">
            <a:off x="2880360" y="3246120"/>
            <a:ext cx="2331720" cy="301752"/>
          </a:xfrm>
          <a:prstGeom xmlns:a="http://schemas.openxmlformats.org/drawingml/2006/main" prst="roundRect">
            <a:avLst>
              <a:gd name="adj" fmla="val 24242"/>
            </a:avLst>
          </a:prstGeom>
          <a:solidFill xmlns:a="http://schemas.openxmlformats.org/drawingml/2006/main">
            <a:srgbClr val="5E36D7"/>
          </a:solidFill>
          <a:ln xmlns:a="http://schemas.openxmlformats.org/drawingml/2006/main" w="12700">
            <a:solidFill>
              <a:srgbClr val="5E36D7"/>
            </a:solidFill>
            <a:prstDash val="solid"/>
          </a:ln>
        </p:spPr>
      </p:sp>
      <p:sp>
        <p:nvSpPr>
          <p:cNvPr id="7" name="Text 5">
            <a:extLst xmlns:a="http://schemas.openxmlformats.org/drawingml/2006/main">
              <a:ext uri="{FF2B5EF4-FFF2-40B4-BE49-F238E27FC236}">
                <a16:creationId xmlns:a16="http://schemas.microsoft.com/office/drawing/2014/main" id="{06FDEC71-9B7F-4D6E-85ED-34872EE90B0B}"/>
              </a:ext>
            </a:extLst>
          </p:cNvPr>
          <p:cNvSpPr>
            <a:spLocks xmlns:a="http://schemas.openxmlformats.org/drawingml/2006/main" noGrp="1"/>
          </p:cNvSpPr>
          <p:nvPr/>
        </p:nvSpPr>
        <p:spPr>
          <a:xfrm xmlns:a="http://schemas.openxmlformats.org/drawingml/2006/main">
            <a:off x="2953512" y="3296412"/>
            <a:ext cx="218541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rPr>
              <a:t>Resilient Embedded Experience</a:t>
            </a:r>
            <a:endParaRPr sz="950"/>
          </a:p>
        </p:txBody>
      </p:sp>
      <p:sp>
        <p:nvSpPr>
          <p:cNvPr id="25" name="Slide Number Placeholder 0">
            <a:extLst xmlns:a="http://schemas.openxmlformats.org/drawingml/2006/main">
              <a:ext uri="{FF2B5EF4-FFF2-40B4-BE49-F238E27FC236}">
                <a16:creationId xmlns:a16="http://schemas.microsoft.com/office/drawing/2014/main" id="{937DD6CB-DBB0-4EFE-93D2-AC7BF15A22E3}"/>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a:t>
            </a:fld>
            <a:endParaRPr/>
          </a:p>
        </p:txBody>
      </p:sp>
      <p:sp>
        <p:nvSpPr>
          <p:cNvPr id="1008" name="Portfolio context">
            <a:extLst xmlns:a="http://schemas.openxmlformats.org/drawingml/2006/main">
              <a:ext uri="{FF2B5EF4-FFF2-40B4-BE49-F238E27FC236}">
                <a16:creationId xmlns:a16="http://schemas.microsoft.com/office/drawing/2014/main" id="{D8C1A74E-9A85-49E6-A6A4-65CDA4337FED}"/>
              </a:ext>
            </a:extLst>
          </p:cNvPr>
          <p:cNvSpPr>
            <a:spLocks xmlns:a="http://schemas.openxmlformats.org/drawingml/2006/main" noGrp="1"/>
          </p:cNvSpPr>
          <p:nvPr/>
        </p:nvSpPr>
        <p:spPr>
          <a:xfrm xmlns:a="http://schemas.openxmlformats.org/drawingml/2006/main">
            <a:off x="713232" y="3886200"/>
            <a:ext cx="1051560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lstStyle xmlns:a="http://schemas.openxmlformats.org/drawingml/2006/main"/>
          <a:p xmlns:a="http://schemas.openxmlformats.org/drawingml/2006/main">
            <a:r>
              <a:rPr sz="1400" b="0">
                <a:solidFill>
                  <a:srgbClr val="D4D0E6"/>
                </a:solidFill>
                <a:latin typeface="Aptos"/>
                <a:ea typeface="Aptos"/>
                <a:cs typeface="Aptos"/>
              </a:rPr>
              <a:t>Independent architecture exercise using fictional platforms.</a:t>
            </a:r>
          </a:p>
          <a:p xmlns:a="http://schemas.openxmlformats.org/drawingml/2006/main">
            <a:r>
              <a:rPr sz="1400" b="0">
                <a:solidFill>
                  <a:srgbClr val="D4D0E6"/>
                </a:solidFill>
                <a:latin typeface="Aptos"/>
                <a:ea typeface="Aptos"/>
                <a:cs typeface="Aptos"/>
              </a:rPr>
              <a:t>Illustrative design, not an internal or production system.</a:t>
            </a:r>
          </a:p>
          <a:p xmlns:a="http://schemas.openxmlformats.org/drawingml/2006/main">
            <a:r>
              <a:rPr sz="1400" b="0">
                <a:solidFill>
                  <a:srgbClr val="D4D0E6"/>
                </a:solidFill>
                <a:latin typeface="Aptos"/>
                <a:ea typeface="Aptos"/>
                <a:cs typeface="Aptos"/>
              </a:rPr>
              <a:t>Provider = Employment Platform; Partner = Partner Platform.</a:t>
            </a:r>
          </a:p>
        </p:txBody>
      </p:sp>
    </p:spTree>
    <p:extLst>
      <p:ext uri="{BB962C8B-B14F-4D97-AF65-F5344CB8AC3E}">
        <p14:creationId xmlns:p14="http://schemas.microsoft.com/office/powerpoint/2010/main" val="11117540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004" name="Picture 2"/>
          <p:cNvPicPr>
            <a:picLocks xmlns:a="http://schemas.openxmlformats.org/drawingml/2006/main" noChangeAspect="1"/>
          </p:cNvPicPr>
          <p:nvPr/>
        </p:nvPicPr>
        <p:blipFill>
          <a:blip xmlns:r="http://schemas.openxmlformats.org/officeDocument/2006/relationships" xmlns:a="http://schemas.openxmlformats.org/drawingml/2006/main" r:embed="R3d6119b2c1d64c84"/>
          <a:stretch xmlns:a="http://schemas.openxmlformats.org/drawingml/2006/main">
            <a:fillRect l="0" t="0" r="0" b="0"/>
          </a:stretch>
        </p:blipFill>
        <p:spPr>
          <a:xfrm xmlns:a="http://schemas.openxmlformats.org/drawingml/2006/main">
            <a:off x="330926" y="130629"/>
            <a:ext cx="10806974" cy="6251698"/>
          </a:xfrm>
          <a:prstGeom xmlns:a="http://schemas.openxmlformats.org/drawingml/2006/main" prst="rect">
            <a:avLst/>
          </a:prstGeom>
        </p:spPr>
      </p:pic>
      <p:sp>
        <p:nvSpPr>
          <p:cNvPr id="4" name="Slide Number Placeholder 0">
            <a:extLst xmlns:a="http://schemas.openxmlformats.org/drawingml/2006/main">
              <a:ext uri="{FF2B5EF4-FFF2-40B4-BE49-F238E27FC236}">
                <a16:creationId xmlns:a16="http://schemas.microsoft.com/office/drawing/2014/main" id="{C13B3FED-D345-294E-77FE-C8F967C6A20A}"/>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2</a:t>
            </a:fld>
            <a:endParaRPr/>
          </a:p>
        </p:txBody>
      </p:sp>
      <p:sp>
        <p:nvSpPr>
          <p:cNvPr id="1002" name="Diagram subtitle">
            <a:extLst xmlns:a="http://schemas.openxmlformats.org/drawingml/2006/main">
              <a:ext uri="{FF2B5EF4-FFF2-40B4-BE49-F238E27FC236}">
                <a16:creationId xmlns:a16="http://schemas.microsoft.com/office/drawing/2014/main" id="{AD48E071-1854-48B9-920A-AAC2F0438D19}"/>
              </a:ext>
            </a:extLst>
          </p:cNvPr>
          <p:cNvSpPr>
            <a:spLocks xmlns:a="http://schemas.openxmlformats.org/drawingml/2006/main" noGrp="1"/>
          </p:cNvSpPr>
          <p:nvPr/>
        </p:nvSpPr>
        <p:spPr>
          <a:xfrm xmlns:a="http://schemas.openxmlformats.org/drawingml/2006/main">
            <a:off x="633465" y="704515"/>
            <a:ext cx="4995411" cy="1770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wrap="square" lIns="0" tIns="0" rIns="0" bIns="0"/>
          <a:lstStyle xmlns:a="http://schemas.openxmlformats.org/drawingml/2006/main"/>
          <a:p xmlns:a="http://schemas.openxmlformats.org/drawingml/2006/main">
            <a:r>
              <a:rPr sz="1050" b="0">
                <a:solidFill>
                  <a:srgbClr val="574E79"/>
                </a:solidFill>
                <a:latin typeface="Aptos"/>
                <a:ea typeface="Aptos"/>
                <a:cs typeface="Aptos"/>
              </a:rPr>
              <a:t>Seamless for partner customers, explicit for systems, recoverable for operators.</a:t>
            </a:r>
          </a:p>
        </p:txBody>
      </p:sp>
    </p:spTree>
    <p:extLst>
      <p:ext uri="{BB962C8B-B14F-4D97-AF65-F5344CB8AC3E}">
        <p14:creationId xmlns:p14="http://schemas.microsoft.com/office/powerpoint/2010/main" val="387738724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0">
            <a:extLst xmlns:a="http://schemas.openxmlformats.org/drawingml/2006/main">
              <a:ext uri="{FF2B5EF4-FFF2-40B4-BE49-F238E27FC236}">
                <a16:creationId xmlns:a16="http://schemas.microsoft.com/office/drawing/2014/main" id="{4DB29AC8-B2C0-0882-5CB3-299688A6C1CE}"/>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3</a:t>
            </a:fld>
            <a:endParaRPr/>
          </a:p>
        </p:txBody>
      </p:sp>
      <p:pic>
        <p:nvPicPr>
          <p:cNvPr id="7" name="Picture 8"/>
          <p:cNvPicPr>
            <a:picLocks xmlns:a="http://schemas.openxmlformats.org/drawingml/2006/main" noChangeAspect="1"/>
          </p:cNvPicPr>
          <p:nvPr/>
        </p:nvPicPr>
        <p:blipFill>
          <a:blip xmlns:r="http://schemas.openxmlformats.org/officeDocument/2006/relationships" xmlns:a="http://schemas.openxmlformats.org/drawingml/2006/main" r:embed="Rdaf79907a598442d"/>
          <a:stretch xmlns:a="http://schemas.openxmlformats.org/drawingml/2006/main">
            <a:fillRect l="0" t="0" r="0" b="0"/>
          </a:stretch>
        </p:blipFill>
        <p:spPr>
          <a:xfrm xmlns:a="http://schemas.openxmlformats.org/drawingml/2006/main">
            <a:off x="243840" y="139336"/>
            <a:ext cx="11669486" cy="6183087"/>
          </a:xfrm>
          <a:prstGeom xmlns:a="http://schemas.openxmlformats.org/drawingml/2006/main" prst="rect">
            <a:avLst/>
          </a:prstGeom>
        </p:spPr>
      </p:pic>
    </p:spTree>
    <p:extLst>
      <p:ext uri="{BB962C8B-B14F-4D97-AF65-F5344CB8AC3E}">
        <p14:creationId xmlns:p14="http://schemas.microsoft.com/office/powerpoint/2010/main" val="94841817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7" name="Picture 2"/>
          <p:cNvPicPr>
            <a:picLocks xmlns:a="http://schemas.openxmlformats.org/drawingml/2006/main" noChangeAspect="1"/>
          </p:cNvPicPr>
          <p:nvPr/>
        </p:nvPicPr>
        <p:blipFill>
          <a:blip xmlns:r="http://schemas.openxmlformats.org/officeDocument/2006/relationships" xmlns:a="http://schemas.openxmlformats.org/drawingml/2006/main" r:embed="R927da6973dd54115"/>
          <a:stretch xmlns:a="http://schemas.openxmlformats.org/drawingml/2006/main">
            <a:fillRect l="0" t="0" r="0" b="0"/>
          </a:stretch>
        </p:blipFill>
        <p:spPr>
          <a:xfrm xmlns:a="http://schemas.openxmlformats.org/drawingml/2006/main">
            <a:off x="365681" y="304800"/>
            <a:ext cx="11460637" cy="5968999"/>
          </a:xfrm>
          <a:prstGeom xmlns:a="http://schemas.openxmlformats.org/drawingml/2006/main" prst="rect">
            <a:avLst/>
          </a:prstGeom>
        </p:spPr>
      </p:pic>
      <p:sp>
        <p:nvSpPr>
          <p:cNvPr id="5" name="Slide Number Placeholder 0">
            <a:extLst xmlns:a="http://schemas.openxmlformats.org/drawingml/2006/main">
              <a:ext uri="{FF2B5EF4-FFF2-40B4-BE49-F238E27FC236}">
                <a16:creationId xmlns:a16="http://schemas.microsoft.com/office/drawing/2014/main" id="{D8F51398-E9E2-8FCD-0DC6-95571EE22210}"/>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r>
              <a:t>4</a:t>
            </a:r>
          </a:p>
        </p:txBody>
      </p:sp>
    </p:spTree>
    <p:extLst>
      <p:ext uri="{BB962C8B-B14F-4D97-AF65-F5344CB8AC3E}">
        <p14:creationId xmlns:p14="http://schemas.microsoft.com/office/powerpoint/2010/main" val="36301940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5069DB-98D4-43D2-9930-EA3315F7582B}"/>
              </a:ext>
            </a:extLst>
          </p:cNvPr>
          <p:cNvSpPr>
            <a:spLocks xmlns:a="http://schemas.openxmlformats.org/drawingml/2006/main" noGrp="1"/>
          </p:cNvSpPr>
          <p:nvPr/>
        </p:nvSpPr>
        <p:spPr>
          <a:xfrm xmlns:a="http://schemas.openxmlformats.org/drawingml/2006/main">
            <a:off x="548640" y="347472"/>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13F"/>
                </a:solidFill>
                <a:latin typeface="Aptos Display"/>
                <a:ea typeface="Aptos Display"/>
                <a:cs typeface="Aptos Display"/>
              </a:rPr>
              <a:t>Data Ownership Model</a:t>
            </a:r>
            <a:endParaRPr sz="3000">
              <a:solidFill>
                <a:srgbClr val="11113F"/>
              </a:solidFill>
            </a:endParaRPr>
          </a:p>
        </p:txBody>
      </p:sp>
      <p:sp>
        <p:nvSpPr>
          <p:cNvPr id="3" name="Text 1">
            <a:extLst xmlns:a="http://schemas.openxmlformats.org/drawingml/2006/main">
              <a:ext uri="{FF2B5EF4-FFF2-40B4-BE49-F238E27FC236}">
                <a16:creationId xmlns:a16="http://schemas.microsoft.com/office/drawing/2014/main" id="{DD7C4999-94AC-4F6E-8B43-3BA59DDC2A55}"/>
              </a:ext>
            </a:extLst>
          </p:cNvPr>
          <p:cNvSpPr>
            <a:spLocks xmlns:a="http://schemas.openxmlformats.org/drawingml/2006/main" noGrp="1"/>
          </p:cNvSpPr>
          <p:nvPr/>
        </p:nvSpPr>
        <p:spPr>
          <a:xfrm xmlns:a="http://schemas.openxmlformats.org/drawingml/2006/main">
            <a:off x="566928" y="804672"/>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E5872"/>
                </a:solidFill>
              </a:rPr>
              <a:t>Make system ownership explicit before writing integration code.</a:t>
            </a:r>
            <a:endParaRPr sz="1300"/>
          </a:p>
        </p:txBody>
      </p:sp>
      <p:sp>
        <p:nvSpPr>
          <p:cNvPr id="4" name="Shape 2">
            <a:extLst xmlns:a="http://schemas.openxmlformats.org/drawingml/2006/main">
              <a:ext uri="{FF2B5EF4-FFF2-40B4-BE49-F238E27FC236}">
                <a16:creationId xmlns:a16="http://schemas.microsoft.com/office/drawing/2014/main" id="{5DBEDD11-ACA0-493E-AFCF-6E528DF7832E}"/>
              </a:ext>
            </a:extLst>
          </p:cNvPr>
          <p:cNvSpPr>
            <a:spLocks xmlns:a="http://schemas.openxmlformats.org/drawingml/2006/main" noGrp="1"/>
          </p:cNvSpPr>
          <p:nvPr/>
        </p:nvSpPr>
        <p:spPr>
          <a:xfrm xmlns:a="http://schemas.openxmlformats.org/drawingml/2006/main">
            <a:off x="640080" y="1234440"/>
            <a:ext cx="2651760" cy="457200"/>
          </a:xfrm>
          <a:prstGeom xmlns:a="http://schemas.openxmlformats.org/drawingml/2006/main" prst="rect">
            <a:avLst/>
          </a:prstGeom>
          <a:solidFill xmlns:a="http://schemas.openxmlformats.org/drawingml/2006/main">
            <a:srgbClr val="5E36D7"/>
          </a:solidFill>
          <a:ln xmlns:a="http://schemas.openxmlformats.org/drawingml/2006/main" w="7620">
            <a:solidFill>
              <a:srgbClr val="E3DDF2"/>
            </a:solidFill>
            <a:prstDash val="solid"/>
          </a:ln>
        </p:spPr>
      </p:sp>
      <p:sp>
        <p:nvSpPr>
          <p:cNvPr id="5" name="Text 3">
            <a:extLst xmlns:a="http://schemas.openxmlformats.org/drawingml/2006/main">
              <a:ext uri="{FF2B5EF4-FFF2-40B4-BE49-F238E27FC236}">
                <a16:creationId xmlns:a16="http://schemas.microsoft.com/office/drawing/2014/main" id="{DE3BC240-8C28-4E9B-BD87-834B90594870}"/>
              </a:ext>
            </a:extLst>
          </p:cNvPr>
          <p:cNvSpPr>
            <a:spLocks xmlns:a="http://schemas.openxmlformats.org/drawingml/2006/main" noGrp="1"/>
          </p:cNvSpPr>
          <p:nvPr/>
        </p:nvSpPr>
        <p:spPr>
          <a:xfrm xmlns:a="http://schemas.openxmlformats.org/drawingml/2006/main">
            <a:off x="685800" y="1289304"/>
            <a:ext cx="256032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00" b="1">
                <a:solidFill>
                  <a:srgbClr val="FFFFFF"/>
                </a:solidFill>
              </a:rPr>
              <a:t>Data domain</a:t>
            </a:r>
            <a:endParaRPr sz="1200"/>
          </a:p>
        </p:txBody>
      </p:sp>
      <p:sp>
        <p:nvSpPr>
          <p:cNvPr id="6" name="Shape 4">
            <a:extLst xmlns:a="http://schemas.openxmlformats.org/drawingml/2006/main">
              <a:ext uri="{FF2B5EF4-FFF2-40B4-BE49-F238E27FC236}">
                <a16:creationId xmlns:a16="http://schemas.microsoft.com/office/drawing/2014/main" id="{BDD873D6-F4A7-47F1-B295-FBDB833A76A5}"/>
              </a:ext>
            </a:extLst>
          </p:cNvPr>
          <p:cNvSpPr>
            <a:spLocks xmlns:a="http://schemas.openxmlformats.org/drawingml/2006/main" noGrp="1"/>
          </p:cNvSpPr>
          <p:nvPr/>
        </p:nvSpPr>
        <p:spPr>
          <a:xfrm xmlns:a="http://schemas.openxmlformats.org/drawingml/2006/main">
            <a:off x="3291840" y="1234440"/>
            <a:ext cx="2743200" cy="457200"/>
          </a:xfrm>
          <a:prstGeom xmlns:a="http://schemas.openxmlformats.org/drawingml/2006/main" prst="rect">
            <a:avLst/>
          </a:prstGeom>
          <a:solidFill xmlns:a="http://schemas.openxmlformats.org/drawingml/2006/main">
            <a:srgbClr val="5E36D7"/>
          </a:solidFill>
          <a:ln xmlns:a="http://schemas.openxmlformats.org/drawingml/2006/main" w="7620">
            <a:solidFill>
              <a:srgbClr val="E3DDF2"/>
            </a:solidFill>
            <a:prstDash val="solid"/>
          </a:ln>
        </p:spPr>
      </p:sp>
      <p:sp>
        <p:nvSpPr>
          <p:cNvPr id="7" name="Text 5">
            <a:extLst xmlns:a="http://schemas.openxmlformats.org/drawingml/2006/main">
              <a:ext uri="{FF2B5EF4-FFF2-40B4-BE49-F238E27FC236}">
                <a16:creationId xmlns:a16="http://schemas.microsoft.com/office/drawing/2014/main" id="{C5D6D368-57CD-4E1D-A499-9C23CF2E580A}"/>
              </a:ext>
            </a:extLst>
          </p:cNvPr>
          <p:cNvSpPr>
            <a:spLocks xmlns:a="http://schemas.openxmlformats.org/drawingml/2006/main" noGrp="1"/>
          </p:cNvSpPr>
          <p:nvPr/>
        </p:nvSpPr>
        <p:spPr>
          <a:xfrm xmlns:a="http://schemas.openxmlformats.org/drawingml/2006/main">
            <a:off x="3337560" y="1289304"/>
            <a:ext cx="26517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00" b="1">
                <a:solidFill>
                  <a:srgbClr val="FFFFFF"/>
                </a:solidFill>
              </a:rPr>
              <a:t>Authoritative system</a:t>
            </a:r>
            <a:endParaRPr sz="1200"/>
          </a:p>
        </p:txBody>
      </p:sp>
      <p:sp>
        <p:nvSpPr>
          <p:cNvPr id="8" name="Shape 6">
            <a:extLst xmlns:a="http://schemas.openxmlformats.org/drawingml/2006/main">
              <a:ext uri="{FF2B5EF4-FFF2-40B4-BE49-F238E27FC236}">
                <a16:creationId xmlns:a16="http://schemas.microsoft.com/office/drawing/2014/main" id="{F277EC93-6E1C-4413-AD25-0AA4B9293EE5}"/>
              </a:ext>
            </a:extLst>
          </p:cNvPr>
          <p:cNvSpPr>
            <a:spLocks xmlns:a="http://schemas.openxmlformats.org/drawingml/2006/main" noGrp="1"/>
          </p:cNvSpPr>
          <p:nvPr/>
        </p:nvSpPr>
        <p:spPr>
          <a:xfrm xmlns:a="http://schemas.openxmlformats.org/drawingml/2006/main">
            <a:off x="6035040" y="1234440"/>
            <a:ext cx="5486400" cy="457200"/>
          </a:xfrm>
          <a:prstGeom xmlns:a="http://schemas.openxmlformats.org/drawingml/2006/main" prst="rect">
            <a:avLst/>
          </a:prstGeom>
          <a:solidFill xmlns:a="http://schemas.openxmlformats.org/drawingml/2006/main">
            <a:srgbClr val="5E36D7"/>
          </a:solidFill>
          <a:ln xmlns:a="http://schemas.openxmlformats.org/drawingml/2006/main" w="7620">
            <a:solidFill>
              <a:srgbClr val="E3DDF2"/>
            </a:solidFill>
            <a:prstDash val="solid"/>
          </a:ln>
        </p:spPr>
      </p:sp>
      <p:sp>
        <p:nvSpPr>
          <p:cNvPr id="9" name="Text 7">
            <a:extLst xmlns:a="http://schemas.openxmlformats.org/drawingml/2006/main">
              <a:ext uri="{FF2B5EF4-FFF2-40B4-BE49-F238E27FC236}">
                <a16:creationId xmlns:a16="http://schemas.microsoft.com/office/drawing/2014/main" id="{24099B21-974D-4EEA-BFC9-B39F11811470}"/>
              </a:ext>
            </a:extLst>
          </p:cNvPr>
          <p:cNvSpPr>
            <a:spLocks xmlns:a="http://schemas.openxmlformats.org/drawingml/2006/main" noGrp="1"/>
          </p:cNvSpPr>
          <p:nvPr/>
        </p:nvSpPr>
        <p:spPr>
          <a:xfrm xmlns:a="http://schemas.openxmlformats.org/drawingml/2006/main">
            <a:off x="6080760" y="1289304"/>
            <a:ext cx="53949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00" b="1">
                <a:solidFill>
                  <a:srgbClr val="FFFFFF"/>
                </a:solidFill>
              </a:rPr>
              <a:t>Partner UX behavior</a:t>
            </a:r>
            <a:endParaRPr sz="1200"/>
          </a:p>
        </p:txBody>
      </p:sp>
      <p:sp>
        <p:nvSpPr>
          <p:cNvPr id="10" name="Shape 8">
            <a:extLst xmlns:a="http://schemas.openxmlformats.org/drawingml/2006/main">
              <a:ext uri="{FF2B5EF4-FFF2-40B4-BE49-F238E27FC236}">
                <a16:creationId xmlns:a16="http://schemas.microsoft.com/office/drawing/2014/main" id="{7BEF7324-9AE2-4B3E-9F13-2232AB40BFEF}"/>
              </a:ext>
            </a:extLst>
          </p:cNvPr>
          <p:cNvSpPr>
            <a:spLocks xmlns:a="http://schemas.openxmlformats.org/drawingml/2006/main" noGrp="1"/>
          </p:cNvSpPr>
          <p:nvPr/>
        </p:nvSpPr>
        <p:spPr>
          <a:xfrm xmlns:a="http://schemas.openxmlformats.org/drawingml/2006/main">
            <a:off x="640080" y="1691640"/>
            <a:ext cx="26517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11" name="Text 9">
            <a:extLst xmlns:a="http://schemas.openxmlformats.org/drawingml/2006/main">
              <a:ext uri="{FF2B5EF4-FFF2-40B4-BE49-F238E27FC236}">
                <a16:creationId xmlns:a16="http://schemas.microsoft.com/office/drawing/2014/main" id="{27CF66E8-4C53-430D-B896-E902D17F9BA8}"/>
              </a:ext>
            </a:extLst>
          </p:cNvPr>
          <p:cNvSpPr>
            <a:spLocks xmlns:a="http://schemas.openxmlformats.org/drawingml/2006/main" noGrp="1"/>
          </p:cNvSpPr>
          <p:nvPr/>
        </p:nvSpPr>
        <p:spPr>
          <a:xfrm xmlns:a="http://schemas.openxmlformats.org/drawingml/2006/main">
            <a:off x="685800" y="1746504"/>
            <a:ext cx="256032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Partner customer / tenant</a:t>
            </a:r>
            <a:endParaRPr sz="1150"/>
          </a:p>
        </p:txBody>
      </p:sp>
      <p:sp>
        <p:nvSpPr>
          <p:cNvPr id="12" name="Shape 10">
            <a:extLst xmlns:a="http://schemas.openxmlformats.org/drawingml/2006/main">
              <a:ext uri="{FF2B5EF4-FFF2-40B4-BE49-F238E27FC236}">
                <a16:creationId xmlns:a16="http://schemas.microsoft.com/office/drawing/2014/main" id="{3E3A8666-4F93-47DC-864A-A02B63C870F4}"/>
              </a:ext>
            </a:extLst>
          </p:cNvPr>
          <p:cNvSpPr>
            <a:spLocks xmlns:a="http://schemas.openxmlformats.org/drawingml/2006/main" noGrp="1"/>
          </p:cNvSpPr>
          <p:nvPr/>
        </p:nvSpPr>
        <p:spPr>
          <a:xfrm xmlns:a="http://schemas.openxmlformats.org/drawingml/2006/main">
            <a:off x="3291840" y="1691640"/>
            <a:ext cx="27432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13" name="Text 11">
            <a:extLst xmlns:a="http://schemas.openxmlformats.org/drawingml/2006/main">
              <a:ext uri="{FF2B5EF4-FFF2-40B4-BE49-F238E27FC236}">
                <a16:creationId xmlns:a16="http://schemas.microsoft.com/office/drawing/2014/main" id="{F176FF06-535C-4BF8-BBE7-2D171D4D9753}"/>
              </a:ext>
            </a:extLst>
          </p:cNvPr>
          <p:cNvSpPr>
            <a:spLocks xmlns:a="http://schemas.openxmlformats.org/drawingml/2006/main" noGrp="1"/>
          </p:cNvSpPr>
          <p:nvPr/>
        </p:nvSpPr>
        <p:spPr>
          <a:xfrm xmlns:a="http://schemas.openxmlformats.org/drawingml/2006/main">
            <a:off x="3337560" y="1746504"/>
            <a:ext cx="26517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Partner Platform</a:t>
            </a:r>
            <a:endParaRPr sz="1150"/>
          </a:p>
        </p:txBody>
      </p:sp>
      <p:sp>
        <p:nvSpPr>
          <p:cNvPr id="14" name="Shape 12">
            <a:extLst xmlns:a="http://schemas.openxmlformats.org/drawingml/2006/main">
              <a:ext uri="{FF2B5EF4-FFF2-40B4-BE49-F238E27FC236}">
                <a16:creationId xmlns:a16="http://schemas.microsoft.com/office/drawing/2014/main" id="{5DA389E4-FCA0-486D-A735-849194C504EB}"/>
              </a:ext>
            </a:extLst>
          </p:cNvPr>
          <p:cNvSpPr>
            <a:spLocks xmlns:a="http://schemas.openxmlformats.org/drawingml/2006/main" noGrp="1"/>
          </p:cNvSpPr>
          <p:nvPr/>
        </p:nvSpPr>
        <p:spPr>
          <a:xfrm xmlns:a="http://schemas.openxmlformats.org/drawingml/2006/main">
            <a:off x="6035040" y="1691640"/>
            <a:ext cx="5486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15" name="Text 13">
            <a:extLst xmlns:a="http://schemas.openxmlformats.org/drawingml/2006/main">
              <a:ext uri="{FF2B5EF4-FFF2-40B4-BE49-F238E27FC236}">
                <a16:creationId xmlns:a16="http://schemas.microsoft.com/office/drawing/2014/main" id="{2716E68D-E928-4B11-8E71-A6A6770150EB}"/>
              </a:ext>
            </a:extLst>
          </p:cNvPr>
          <p:cNvSpPr>
            <a:spLocks xmlns:a="http://schemas.openxmlformats.org/drawingml/2006/main" noGrp="1"/>
          </p:cNvSpPr>
          <p:nvPr/>
        </p:nvSpPr>
        <p:spPr>
          <a:xfrm xmlns:a="http://schemas.openxmlformats.org/drawingml/2006/main">
            <a:off x="6080760" y="1746504"/>
            <a:ext cx="53949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150">
                <a:solidFill>
                  <a:srgbClr val="19142B"/>
                </a:solidFill>
              </a:rPr>
              <a:t>Partner owns tenant context, permissions, and packaging.</a:t>
            </a:r>
            <a:endParaRPr sz="1150"/>
          </a:p>
        </p:txBody>
      </p:sp>
      <p:sp>
        <p:nvSpPr>
          <p:cNvPr id="16" name="Shape 14">
            <a:extLst xmlns:a="http://schemas.openxmlformats.org/drawingml/2006/main">
              <a:ext uri="{FF2B5EF4-FFF2-40B4-BE49-F238E27FC236}">
                <a16:creationId xmlns:a16="http://schemas.microsoft.com/office/drawing/2014/main" id="{FE4D92A4-2477-45FE-9126-4406D2E9A95D}"/>
              </a:ext>
            </a:extLst>
          </p:cNvPr>
          <p:cNvSpPr>
            <a:spLocks xmlns:a="http://schemas.openxmlformats.org/drawingml/2006/main" noGrp="1"/>
          </p:cNvSpPr>
          <p:nvPr/>
        </p:nvSpPr>
        <p:spPr>
          <a:xfrm xmlns:a="http://schemas.openxmlformats.org/drawingml/2006/main">
            <a:off x="640080" y="2148840"/>
            <a:ext cx="2651760" cy="457200"/>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17" name="Text 15">
            <a:extLst xmlns:a="http://schemas.openxmlformats.org/drawingml/2006/main">
              <a:ext uri="{FF2B5EF4-FFF2-40B4-BE49-F238E27FC236}">
                <a16:creationId xmlns:a16="http://schemas.microsoft.com/office/drawing/2014/main" id="{95F9C5E9-10D6-4EB7-9CFE-0BEEC2B3CB26}"/>
              </a:ext>
            </a:extLst>
          </p:cNvPr>
          <p:cNvSpPr>
            <a:spLocks xmlns:a="http://schemas.openxmlformats.org/drawingml/2006/main" noGrp="1"/>
          </p:cNvSpPr>
          <p:nvPr/>
        </p:nvSpPr>
        <p:spPr>
          <a:xfrm xmlns:a="http://schemas.openxmlformats.org/drawingml/2006/main">
            <a:off x="685800" y="2203704"/>
            <a:ext cx="256032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Employment lifecycle</a:t>
            </a:r>
            <a:endParaRPr sz="1150"/>
          </a:p>
        </p:txBody>
      </p:sp>
      <p:sp>
        <p:nvSpPr>
          <p:cNvPr id="18" name="Shape 16">
            <a:extLst xmlns:a="http://schemas.openxmlformats.org/drawingml/2006/main">
              <a:ext uri="{FF2B5EF4-FFF2-40B4-BE49-F238E27FC236}">
                <a16:creationId xmlns:a16="http://schemas.microsoft.com/office/drawing/2014/main" id="{92B969EB-AEF0-43D6-9DB2-19CE82E68B79}"/>
              </a:ext>
            </a:extLst>
          </p:cNvPr>
          <p:cNvSpPr>
            <a:spLocks xmlns:a="http://schemas.openxmlformats.org/drawingml/2006/main" noGrp="1"/>
          </p:cNvSpPr>
          <p:nvPr/>
        </p:nvSpPr>
        <p:spPr>
          <a:xfrm xmlns:a="http://schemas.openxmlformats.org/drawingml/2006/main">
            <a:off x="3291840" y="2148840"/>
            <a:ext cx="2743200" cy="457200"/>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19" name="Text 17">
            <a:extLst xmlns:a="http://schemas.openxmlformats.org/drawingml/2006/main">
              <a:ext uri="{FF2B5EF4-FFF2-40B4-BE49-F238E27FC236}">
                <a16:creationId xmlns:a16="http://schemas.microsoft.com/office/drawing/2014/main" id="{20907790-C812-4916-B6FB-5693D75A7829}"/>
              </a:ext>
            </a:extLst>
          </p:cNvPr>
          <p:cNvSpPr>
            <a:spLocks xmlns:a="http://schemas.openxmlformats.org/drawingml/2006/main" noGrp="1"/>
          </p:cNvSpPr>
          <p:nvPr/>
        </p:nvSpPr>
        <p:spPr>
          <a:xfrm xmlns:a="http://schemas.openxmlformats.org/drawingml/2006/main">
            <a:off x="3337560" y="2203704"/>
            <a:ext cx="26517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Employment Platform</a:t>
            </a:r>
            <a:endParaRPr sz="1150"/>
          </a:p>
        </p:txBody>
      </p:sp>
      <p:sp>
        <p:nvSpPr>
          <p:cNvPr id="20" name="Shape 18">
            <a:extLst xmlns:a="http://schemas.openxmlformats.org/drawingml/2006/main">
              <a:ext uri="{FF2B5EF4-FFF2-40B4-BE49-F238E27FC236}">
                <a16:creationId xmlns:a16="http://schemas.microsoft.com/office/drawing/2014/main" id="{B7A5F6C9-83D6-41A5-8EB7-71DE55FB6813}"/>
              </a:ext>
            </a:extLst>
          </p:cNvPr>
          <p:cNvSpPr>
            <a:spLocks xmlns:a="http://schemas.openxmlformats.org/drawingml/2006/main" noGrp="1"/>
          </p:cNvSpPr>
          <p:nvPr/>
        </p:nvSpPr>
        <p:spPr>
          <a:xfrm xmlns:a="http://schemas.openxmlformats.org/drawingml/2006/main">
            <a:off x="6035040" y="2148840"/>
            <a:ext cx="5486400" cy="457200"/>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21" name="Text 19">
            <a:extLst xmlns:a="http://schemas.openxmlformats.org/drawingml/2006/main">
              <a:ext uri="{FF2B5EF4-FFF2-40B4-BE49-F238E27FC236}">
                <a16:creationId xmlns:a16="http://schemas.microsoft.com/office/drawing/2014/main" id="{C3543E6F-8D93-492C-8523-864009E1F41F}"/>
              </a:ext>
            </a:extLst>
          </p:cNvPr>
          <p:cNvSpPr>
            <a:spLocks xmlns:a="http://schemas.openxmlformats.org/drawingml/2006/main" noGrp="1"/>
          </p:cNvSpPr>
          <p:nvPr/>
        </p:nvSpPr>
        <p:spPr>
          <a:xfrm xmlns:a="http://schemas.openxmlformats.org/drawingml/2006/main">
            <a:off x="6080760" y="2203704"/>
            <a:ext cx="53949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Display provider stage/status; do not infer hidden compliance state.</a:t>
            </a:r>
            <a:endParaRPr sz="1150"/>
          </a:p>
        </p:txBody>
      </p:sp>
      <p:sp>
        <p:nvSpPr>
          <p:cNvPr id="22" name="Shape 20">
            <a:extLst xmlns:a="http://schemas.openxmlformats.org/drawingml/2006/main">
              <a:ext uri="{FF2B5EF4-FFF2-40B4-BE49-F238E27FC236}">
                <a16:creationId xmlns:a16="http://schemas.microsoft.com/office/drawing/2014/main" id="{A71524AC-9ACB-4DAB-8934-4BD0859DD4E1}"/>
              </a:ext>
            </a:extLst>
          </p:cNvPr>
          <p:cNvSpPr>
            <a:spLocks xmlns:a="http://schemas.openxmlformats.org/drawingml/2006/main" noGrp="1"/>
          </p:cNvSpPr>
          <p:nvPr/>
        </p:nvSpPr>
        <p:spPr>
          <a:xfrm xmlns:a="http://schemas.openxmlformats.org/drawingml/2006/main">
            <a:off x="640080" y="2606040"/>
            <a:ext cx="26517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23" name="Text 21">
            <a:extLst xmlns:a="http://schemas.openxmlformats.org/drawingml/2006/main">
              <a:ext uri="{FF2B5EF4-FFF2-40B4-BE49-F238E27FC236}">
                <a16:creationId xmlns:a16="http://schemas.microsoft.com/office/drawing/2014/main" id="{CDC73F46-3851-493F-AD3E-15351C8147FC}"/>
              </a:ext>
            </a:extLst>
          </p:cNvPr>
          <p:cNvSpPr>
            <a:spLocks xmlns:a="http://schemas.openxmlformats.org/drawingml/2006/main" noGrp="1"/>
          </p:cNvSpPr>
          <p:nvPr/>
        </p:nvSpPr>
        <p:spPr>
          <a:xfrm xmlns:a="http://schemas.openxmlformats.org/drawingml/2006/main">
            <a:off x="685800" y="2660904"/>
            <a:ext cx="256032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Payroll/compliance fields</a:t>
            </a:r>
            <a:endParaRPr sz="1150"/>
          </a:p>
        </p:txBody>
      </p:sp>
      <p:sp>
        <p:nvSpPr>
          <p:cNvPr id="24" name="Shape 22">
            <a:extLst xmlns:a="http://schemas.openxmlformats.org/drawingml/2006/main">
              <a:ext uri="{FF2B5EF4-FFF2-40B4-BE49-F238E27FC236}">
                <a16:creationId xmlns:a16="http://schemas.microsoft.com/office/drawing/2014/main" id="{076C6F3C-1EA4-498D-97EB-3488FBB1A3A7}"/>
              </a:ext>
            </a:extLst>
          </p:cNvPr>
          <p:cNvSpPr>
            <a:spLocks xmlns:a="http://schemas.openxmlformats.org/drawingml/2006/main" noGrp="1"/>
          </p:cNvSpPr>
          <p:nvPr/>
        </p:nvSpPr>
        <p:spPr>
          <a:xfrm xmlns:a="http://schemas.openxmlformats.org/drawingml/2006/main">
            <a:off x="3291840" y="2606040"/>
            <a:ext cx="27432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25" name="Text 23">
            <a:extLst xmlns:a="http://schemas.openxmlformats.org/drawingml/2006/main">
              <a:ext uri="{FF2B5EF4-FFF2-40B4-BE49-F238E27FC236}">
                <a16:creationId xmlns:a16="http://schemas.microsoft.com/office/drawing/2014/main" id="{C68F7F65-467B-4FE3-9BD3-54FF378FCB39}"/>
              </a:ext>
            </a:extLst>
          </p:cNvPr>
          <p:cNvSpPr>
            <a:spLocks xmlns:a="http://schemas.openxmlformats.org/drawingml/2006/main" noGrp="1"/>
          </p:cNvSpPr>
          <p:nvPr/>
        </p:nvSpPr>
        <p:spPr>
          <a:xfrm xmlns:a="http://schemas.openxmlformats.org/drawingml/2006/main">
            <a:off x="3337560" y="2660904"/>
            <a:ext cx="26517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Employment Platform</a:t>
            </a:r>
            <a:endParaRPr sz="1150"/>
          </a:p>
        </p:txBody>
      </p:sp>
      <p:sp>
        <p:nvSpPr>
          <p:cNvPr id="26" name="Shape 24">
            <a:extLst xmlns:a="http://schemas.openxmlformats.org/drawingml/2006/main">
              <a:ext uri="{FF2B5EF4-FFF2-40B4-BE49-F238E27FC236}">
                <a16:creationId xmlns:a16="http://schemas.microsoft.com/office/drawing/2014/main" id="{66CD953C-533F-4A9B-9441-3990624B84FE}"/>
              </a:ext>
            </a:extLst>
          </p:cNvPr>
          <p:cNvSpPr>
            <a:spLocks xmlns:a="http://schemas.openxmlformats.org/drawingml/2006/main" noGrp="1"/>
          </p:cNvSpPr>
          <p:nvPr/>
        </p:nvSpPr>
        <p:spPr>
          <a:xfrm xmlns:a="http://schemas.openxmlformats.org/drawingml/2006/main">
            <a:off x="6035040" y="2606040"/>
            <a:ext cx="5486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27" name="Text 25">
            <a:extLst xmlns:a="http://schemas.openxmlformats.org/drawingml/2006/main">
              <a:ext uri="{FF2B5EF4-FFF2-40B4-BE49-F238E27FC236}">
                <a16:creationId xmlns:a16="http://schemas.microsoft.com/office/drawing/2014/main" id="{20F53C84-7A44-4EFF-A0C1-3A0479C25620}"/>
              </a:ext>
            </a:extLst>
          </p:cNvPr>
          <p:cNvSpPr>
            <a:spLocks xmlns:a="http://schemas.openxmlformats.org/drawingml/2006/main" noGrp="1"/>
          </p:cNvSpPr>
          <p:nvPr/>
        </p:nvSpPr>
        <p:spPr>
          <a:xfrm xmlns:a="http://schemas.openxmlformats.org/drawingml/2006/main">
            <a:off x="6080760" y="2660904"/>
            <a:ext cx="53949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150">
                <a:solidFill>
                  <a:srgbClr val="19142B"/>
                </a:solidFill>
              </a:rPr>
              <a:t>Provider validates the record. Partner shows corrective tasks.</a:t>
            </a:r>
            <a:endParaRPr sz="1150"/>
          </a:p>
        </p:txBody>
      </p:sp>
      <p:sp>
        <p:nvSpPr>
          <p:cNvPr id="28" name="Shape 26">
            <a:extLst xmlns:a="http://schemas.openxmlformats.org/drawingml/2006/main">
              <a:ext uri="{FF2B5EF4-FFF2-40B4-BE49-F238E27FC236}">
                <a16:creationId xmlns:a16="http://schemas.microsoft.com/office/drawing/2014/main" id="{C6F2090F-E14F-46A0-993C-6052AA1067F6}"/>
              </a:ext>
            </a:extLst>
          </p:cNvPr>
          <p:cNvSpPr>
            <a:spLocks xmlns:a="http://schemas.openxmlformats.org/drawingml/2006/main" noGrp="1"/>
          </p:cNvSpPr>
          <p:nvPr/>
        </p:nvSpPr>
        <p:spPr>
          <a:xfrm xmlns:a="http://schemas.openxmlformats.org/drawingml/2006/main">
            <a:off x="640080" y="3063240"/>
            <a:ext cx="2651760" cy="457200"/>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29" name="Text 27">
            <a:extLst xmlns:a="http://schemas.openxmlformats.org/drawingml/2006/main">
              <a:ext uri="{FF2B5EF4-FFF2-40B4-BE49-F238E27FC236}">
                <a16:creationId xmlns:a16="http://schemas.microsoft.com/office/drawing/2014/main" id="{ADCD72C7-6BD9-4175-8E7C-DD9FC6784907}"/>
              </a:ext>
            </a:extLst>
          </p:cNvPr>
          <p:cNvSpPr>
            <a:spLocks xmlns:a="http://schemas.openxmlformats.org/drawingml/2006/main" noGrp="1"/>
          </p:cNvSpPr>
          <p:nvPr/>
        </p:nvSpPr>
        <p:spPr>
          <a:xfrm xmlns:a="http://schemas.openxmlformats.org/drawingml/2006/main">
            <a:off x="685800" y="3118104"/>
            <a:ext cx="256032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Draft hire shell</a:t>
            </a:r>
            <a:endParaRPr sz="1150"/>
          </a:p>
        </p:txBody>
      </p:sp>
      <p:sp>
        <p:nvSpPr>
          <p:cNvPr id="30" name="Shape 28">
            <a:extLst xmlns:a="http://schemas.openxmlformats.org/drawingml/2006/main">
              <a:ext uri="{FF2B5EF4-FFF2-40B4-BE49-F238E27FC236}">
                <a16:creationId xmlns:a16="http://schemas.microsoft.com/office/drawing/2014/main" id="{10725974-CC02-4F83-B224-1E4C27CB1C12}"/>
              </a:ext>
            </a:extLst>
          </p:cNvPr>
          <p:cNvSpPr>
            <a:spLocks xmlns:a="http://schemas.openxmlformats.org/drawingml/2006/main" noGrp="1"/>
          </p:cNvSpPr>
          <p:nvPr/>
        </p:nvSpPr>
        <p:spPr>
          <a:xfrm xmlns:a="http://schemas.openxmlformats.org/drawingml/2006/main">
            <a:off x="3291840" y="3063240"/>
            <a:ext cx="2743200" cy="457200"/>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31" name="Text 29">
            <a:extLst xmlns:a="http://schemas.openxmlformats.org/drawingml/2006/main">
              <a:ext uri="{FF2B5EF4-FFF2-40B4-BE49-F238E27FC236}">
                <a16:creationId xmlns:a16="http://schemas.microsoft.com/office/drawing/2014/main" id="{CA0DE2E1-B5DC-4B24-A180-83D38B42BF7B}"/>
              </a:ext>
            </a:extLst>
          </p:cNvPr>
          <p:cNvSpPr>
            <a:spLocks xmlns:a="http://schemas.openxmlformats.org/drawingml/2006/main" noGrp="1"/>
          </p:cNvSpPr>
          <p:nvPr/>
        </p:nvSpPr>
        <p:spPr>
          <a:xfrm xmlns:a="http://schemas.openxmlformats.org/drawingml/2006/main">
            <a:off x="3337560" y="3118104"/>
            <a:ext cx="26517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150">
                <a:solidFill>
                  <a:srgbClr val="19142B"/>
                </a:solidFill>
              </a:rPr>
              <a:t>Partner until provider creation succeeds</a:t>
            </a:r>
            <a:endParaRPr sz="1150"/>
          </a:p>
        </p:txBody>
      </p:sp>
      <p:sp>
        <p:nvSpPr>
          <p:cNvPr id="32" name="Shape 30">
            <a:extLst xmlns:a="http://schemas.openxmlformats.org/drawingml/2006/main">
              <a:ext uri="{FF2B5EF4-FFF2-40B4-BE49-F238E27FC236}">
                <a16:creationId xmlns:a16="http://schemas.microsoft.com/office/drawing/2014/main" id="{EFDC3A4C-0FC0-4152-BC97-A515CB7220E6}"/>
              </a:ext>
            </a:extLst>
          </p:cNvPr>
          <p:cNvSpPr>
            <a:spLocks xmlns:a="http://schemas.openxmlformats.org/drawingml/2006/main" noGrp="1"/>
          </p:cNvSpPr>
          <p:nvPr/>
        </p:nvSpPr>
        <p:spPr>
          <a:xfrm xmlns:a="http://schemas.openxmlformats.org/drawingml/2006/main">
            <a:off x="6035040" y="3063240"/>
            <a:ext cx="5486400" cy="457200"/>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33" name="Text 31">
            <a:extLst xmlns:a="http://schemas.openxmlformats.org/drawingml/2006/main">
              <a:ext uri="{FF2B5EF4-FFF2-40B4-BE49-F238E27FC236}">
                <a16:creationId xmlns:a16="http://schemas.microsoft.com/office/drawing/2014/main" id="{7AE59124-F894-48E0-8D4E-463ADD81D690}"/>
              </a:ext>
            </a:extLst>
          </p:cNvPr>
          <p:cNvSpPr>
            <a:spLocks xmlns:a="http://schemas.openxmlformats.org/drawingml/2006/main" noGrp="1"/>
          </p:cNvSpPr>
          <p:nvPr/>
        </p:nvSpPr>
        <p:spPr>
          <a:xfrm xmlns:a="http://schemas.openxmlformats.org/drawingml/2006/main">
            <a:off x="6080760" y="3118104"/>
            <a:ext cx="53949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Show “draft” locally; no provider employment record yet.</a:t>
            </a:r>
            <a:endParaRPr sz="1150"/>
          </a:p>
        </p:txBody>
      </p:sp>
      <p:sp>
        <p:nvSpPr>
          <p:cNvPr id="34" name="Shape 32">
            <a:extLst xmlns:a="http://schemas.openxmlformats.org/drawingml/2006/main">
              <a:ext uri="{FF2B5EF4-FFF2-40B4-BE49-F238E27FC236}">
                <a16:creationId xmlns:a16="http://schemas.microsoft.com/office/drawing/2014/main" id="{4197DD6E-8BDF-43C9-8209-E848E45BE2EC}"/>
              </a:ext>
            </a:extLst>
          </p:cNvPr>
          <p:cNvSpPr>
            <a:spLocks xmlns:a="http://schemas.openxmlformats.org/drawingml/2006/main" noGrp="1"/>
          </p:cNvSpPr>
          <p:nvPr/>
        </p:nvSpPr>
        <p:spPr>
          <a:xfrm xmlns:a="http://schemas.openxmlformats.org/drawingml/2006/main">
            <a:off x="640080" y="3520440"/>
            <a:ext cx="26517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35" name="Text 33">
            <a:extLst xmlns:a="http://schemas.openxmlformats.org/drawingml/2006/main">
              <a:ext uri="{FF2B5EF4-FFF2-40B4-BE49-F238E27FC236}">
                <a16:creationId xmlns:a16="http://schemas.microsoft.com/office/drawing/2014/main" id="{3D299A1E-1B79-490F-A696-BD5C8B1EB8E7}"/>
              </a:ext>
            </a:extLst>
          </p:cNvPr>
          <p:cNvSpPr>
            <a:spLocks xmlns:a="http://schemas.openxmlformats.org/drawingml/2006/main" noGrp="1"/>
          </p:cNvSpPr>
          <p:nvPr/>
        </p:nvSpPr>
        <p:spPr>
          <a:xfrm xmlns:a="http://schemas.openxmlformats.org/drawingml/2006/main">
            <a:off x="685800" y="3575304"/>
            <a:ext cx="256032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Cross-system identifiers</a:t>
            </a:r>
            <a:endParaRPr sz="1150"/>
          </a:p>
        </p:txBody>
      </p:sp>
      <p:sp>
        <p:nvSpPr>
          <p:cNvPr id="36" name="Shape 34">
            <a:extLst xmlns:a="http://schemas.openxmlformats.org/drawingml/2006/main">
              <a:ext uri="{FF2B5EF4-FFF2-40B4-BE49-F238E27FC236}">
                <a16:creationId xmlns:a16="http://schemas.microsoft.com/office/drawing/2014/main" id="{2A557665-78E1-4898-9AA5-DDA17945359C}"/>
              </a:ext>
            </a:extLst>
          </p:cNvPr>
          <p:cNvSpPr>
            <a:spLocks xmlns:a="http://schemas.openxmlformats.org/drawingml/2006/main" noGrp="1"/>
          </p:cNvSpPr>
          <p:nvPr/>
        </p:nvSpPr>
        <p:spPr>
          <a:xfrm xmlns:a="http://schemas.openxmlformats.org/drawingml/2006/main">
            <a:off x="3291840" y="3520440"/>
            <a:ext cx="27432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37" name="Text 35">
            <a:extLst xmlns:a="http://schemas.openxmlformats.org/drawingml/2006/main">
              <a:ext uri="{FF2B5EF4-FFF2-40B4-BE49-F238E27FC236}">
                <a16:creationId xmlns:a16="http://schemas.microsoft.com/office/drawing/2014/main" id="{E0E1500B-88E1-4F66-87F2-09BC979DF7C0}"/>
              </a:ext>
            </a:extLst>
          </p:cNvPr>
          <p:cNvSpPr>
            <a:spLocks xmlns:a="http://schemas.openxmlformats.org/drawingml/2006/main" noGrp="1"/>
          </p:cNvSpPr>
          <p:nvPr/>
        </p:nvSpPr>
        <p:spPr>
          <a:xfrm xmlns:a="http://schemas.openxmlformats.org/drawingml/2006/main">
            <a:off x="3337560" y="3575304"/>
            <a:ext cx="26517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Mapping table</a:t>
            </a:r>
            <a:endParaRPr sz="1150"/>
          </a:p>
        </p:txBody>
      </p:sp>
      <p:sp>
        <p:nvSpPr>
          <p:cNvPr id="38" name="Shape 36">
            <a:extLst xmlns:a="http://schemas.openxmlformats.org/drawingml/2006/main">
              <a:ext uri="{FF2B5EF4-FFF2-40B4-BE49-F238E27FC236}">
                <a16:creationId xmlns:a16="http://schemas.microsoft.com/office/drawing/2014/main" id="{05A942C8-6F8D-4EE3-AA8D-F0F58E873BF0}"/>
              </a:ext>
            </a:extLst>
          </p:cNvPr>
          <p:cNvSpPr>
            <a:spLocks xmlns:a="http://schemas.openxmlformats.org/drawingml/2006/main" noGrp="1"/>
          </p:cNvSpPr>
          <p:nvPr/>
        </p:nvSpPr>
        <p:spPr>
          <a:xfrm xmlns:a="http://schemas.openxmlformats.org/drawingml/2006/main">
            <a:off x="6035040" y="3520440"/>
            <a:ext cx="5486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39" name="Text 37">
            <a:extLst xmlns:a="http://schemas.openxmlformats.org/drawingml/2006/main">
              <a:ext uri="{FF2B5EF4-FFF2-40B4-BE49-F238E27FC236}">
                <a16:creationId xmlns:a16="http://schemas.microsoft.com/office/drawing/2014/main" id="{F0996510-FAA7-41A2-814B-20CD4FB4D4F4}"/>
              </a:ext>
            </a:extLst>
          </p:cNvPr>
          <p:cNvSpPr>
            <a:spLocks xmlns:a="http://schemas.openxmlformats.org/drawingml/2006/main" noGrp="1"/>
          </p:cNvSpPr>
          <p:nvPr/>
        </p:nvSpPr>
        <p:spPr>
          <a:xfrm xmlns:a="http://schemas.openxmlformats.org/drawingml/2006/main">
            <a:off x="6080760" y="3575304"/>
            <a:ext cx="5394960"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50">
                <a:solidFill>
                  <a:srgbClr val="19142B"/>
                </a:solidFill>
              </a:rPr>
              <a:t>Use stable provider_employment_id + partner_employee_id mapping.</a:t>
            </a:r>
            <a:endParaRPr sz="1150"/>
          </a:p>
        </p:txBody>
      </p:sp>
      <p:sp>
        <p:nvSpPr>
          <p:cNvPr id="40" name="Text 38">
            <a:extLst xmlns:a="http://schemas.openxmlformats.org/drawingml/2006/main">
              <a:ext uri="{FF2B5EF4-FFF2-40B4-BE49-F238E27FC236}">
                <a16:creationId xmlns:a16="http://schemas.microsoft.com/office/drawing/2014/main" id="{21E6435E-7BD1-40A0-B2E6-B1AB865DFDF0}"/>
              </a:ext>
            </a:extLst>
          </p:cNvPr>
          <p:cNvSpPr>
            <a:spLocks xmlns:a="http://schemas.openxmlformats.org/drawingml/2006/main" noGrp="1"/>
          </p:cNvSpPr>
          <p:nvPr/>
        </p:nvSpPr>
        <p:spPr>
          <a:xfrm xmlns:a="http://schemas.openxmlformats.org/drawingml/2006/main">
            <a:off x="685800" y="4617720"/>
            <a:ext cx="10789920"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algn="ctr">
              <a:buNone/>
            </a:pPr>
            <a:r>
              <a:rPr sz="2400" b="1"/>
              <a:t>Partner owns the user experience; provider owns employment and compliance records.</a:t>
            </a:r>
          </a:p>
        </p:txBody>
      </p:sp>
      <p:sp>
        <p:nvSpPr>
          <p:cNvPr id="41" name="Slide Number Placeholder 0">
            <a:extLst xmlns:a="http://schemas.openxmlformats.org/drawingml/2006/main">
              <a:ext uri="{FF2B5EF4-FFF2-40B4-BE49-F238E27FC236}">
                <a16:creationId xmlns:a16="http://schemas.microsoft.com/office/drawing/2014/main" id="{D88405E2-C9F3-4391-A0CB-03365F5FD2B7}"/>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5</a:t>
            </a:fld>
            <a:endParaRPr/>
          </a:p>
        </p:txBody>
      </p:sp>
    </p:spTree>
    <p:extLst>
      <p:ext uri="{BB962C8B-B14F-4D97-AF65-F5344CB8AC3E}">
        <p14:creationId xmlns:p14="http://schemas.microsoft.com/office/powerpoint/2010/main" val="17584452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Slide Number Placeholder 0">
            <a:extLst xmlns:a="http://schemas.openxmlformats.org/drawingml/2006/main">
              <a:ext uri="{FF2B5EF4-FFF2-40B4-BE49-F238E27FC236}">
                <a16:creationId xmlns:a16="http://schemas.microsoft.com/office/drawing/2014/main" id="{2211222E-4501-7BEA-B1C4-8B9E67D77201}"/>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6</a:t>
            </a:fld>
            <a:endParaRPr/>
          </a:p>
        </p:txBody>
      </p:sp>
      <p:pic>
        <p:nvPicPr>
          <p:cNvPr id="1006" name="Picture 9"/>
          <p:cNvPicPr>
            <a:picLocks xmlns:a="http://schemas.openxmlformats.org/drawingml/2006/main" noChangeAspect="1"/>
          </p:cNvPicPr>
          <p:nvPr/>
        </p:nvPicPr>
        <p:blipFill>
          <a:blip xmlns:r="http://schemas.openxmlformats.org/officeDocument/2006/relationships" xmlns:a="http://schemas.openxmlformats.org/drawingml/2006/main" r:embed="Raaa1c0b01e1d4150"/>
          <a:stretch xmlns:a="http://schemas.openxmlformats.org/drawingml/2006/main">
            <a:fillRect l="0" t="0" r="0" b="0"/>
          </a:stretch>
        </p:blipFill>
        <p:spPr>
          <a:xfrm xmlns:a="http://schemas.openxmlformats.org/drawingml/2006/main">
            <a:off x="205165" y="311499"/>
            <a:ext cx="11887675" cy="6030035"/>
          </a:xfrm>
          <a:prstGeom xmlns:a="http://schemas.openxmlformats.org/drawingml/2006/main" prst="rect">
            <a:avLst/>
          </a:prstGeom>
        </p:spPr>
      </p:pic>
      <p:sp>
        <p:nvSpPr>
          <p:cNvPr id="1002" name="Diagram subtitle">
            <a:extLst xmlns:a="http://schemas.openxmlformats.org/drawingml/2006/main">
              <a:ext uri="{FF2B5EF4-FFF2-40B4-BE49-F238E27FC236}">
                <a16:creationId xmlns:a16="http://schemas.microsoft.com/office/drawing/2014/main" id="{83279159-754A-4521-AF27-FDA2554A1E09}"/>
              </a:ext>
            </a:extLst>
          </p:cNvPr>
          <p:cNvSpPr>
            <a:spLocks xmlns:a="http://schemas.openxmlformats.org/drawingml/2006/main" noGrp="1"/>
          </p:cNvSpPr>
          <p:nvPr/>
        </p:nvSpPr>
        <p:spPr>
          <a:xfrm xmlns:a="http://schemas.openxmlformats.org/drawingml/2006/main">
            <a:off x="542404" y="901535"/>
            <a:ext cx="8641750" cy="213969"/>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wrap="square" lIns="0" tIns="0" rIns="0" bIns="0"/>
          <a:lstStyle xmlns:a="http://schemas.openxmlformats.org/drawingml/2006/main"/>
          <a:p xmlns:a="http://schemas.openxmlformats.org/drawingml/2006/main">
            <a:r>
              <a:rPr sz="1150" b="0">
                <a:solidFill>
                  <a:srgbClr val="55449A"/>
                </a:solidFill>
                <a:latin typeface="Aptos"/>
                <a:ea typeface="Aptos"/>
                <a:cs typeface="Aptos"/>
              </a:rPr>
              <a:t>Use a saga pattern: reserve locally, </a:t>
            </a:r>
            <a:r>
              <a:rPr sz="1150" b="0">
                <a:solidFill>
                  <a:srgbClr val="55449A"/>
                </a:solidFill>
                <a:latin typeface="Aptos"/>
                <a:ea typeface="Aptos"/>
                <a:cs typeface="Aptos"/>
              </a:rPr>
              <a:t>create with the provider</a:t>
            </a:r>
            <a:r>
              <a:rPr sz="1150" b="0">
                <a:solidFill>
                  <a:srgbClr val="55449A"/>
                </a:solidFill>
                <a:latin typeface="Aptos"/>
                <a:ea typeface="Aptos"/>
                <a:cs typeface="Aptos"/>
              </a:rPr>
              <a:t>, commit the mapping, then invite.</a:t>
            </a:r>
          </a:p>
        </p:txBody>
      </p:sp>
      <p:sp>
        <p:nvSpPr>
          <p:cNvPr id="1004" name="Illustrative example context 6">
            <a:extLst xmlns:a="http://schemas.openxmlformats.org/drawingml/2006/main">
              <a:ext uri="{FF2B5EF4-FFF2-40B4-BE49-F238E27FC236}">
                <a16:creationId xmlns:a16="http://schemas.microsoft.com/office/drawing/2014/main" id="{F312B8F1-2BDC-4C53-ABFC-0F7F41BB1570}"/>
              </a:ext>
            </a:extLst>
          </p:cNvPr>
          <p:cNvSpPr>
            <a:spLocks xmlns:a="http://schemas.openxmlformats.org/drawingml/2006/main" noGrp="1"/>
          </p:cNvSpPr>
          <p:nvPr/>
        </p:nvSpPr>
        <p:spPr>
          <a:xfrm xmlns:a="http://schemas.openxmlformats.org/drawingml/2006/main">
            <a:off x="514350" y="6286500"/>
            <a:ext cx="10763250" cy="171450"/>
          </a:xfrm>
          <a:prstGeom xmlns:a="http://schemas.openxmlformats.org/drawingml/2006/main" prst="rect">
            <a:avLst/>
          </a:prstGeom>
          <a:solidFill xmlns:a="http://schemas.openxmlformats.org/drawingml/2006/main">
            <a:srgbClr val="FBFAFF"/>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63">
                <a:solidFill>
                  <a:srgbClr val="5F5877"/>
                </a:solidFill>
                <a:latin typeface="Aptos"/>
                <a:ea typeface="Aptos"/>
                <a:cs typeface="Aptos"/>
              </a:defRPr>
            </a:pPr>
            <a:r>
              <a:rPr sz="863">
                <a:solidFill>
                  <a:srgbClr val="5F5877"/>
                </a:solidFill>
                <a:latin typeface="Aptos"/>
                <a:ea typeface="Aptos"/>
                <a:cs typeface="Aptos"/>
              </a:rPr>
              <a:t>Illustrative API example. Fields, states, and responses are fictional and require provider validation.</a:t>
            </a:r>
          </a:p>
        </p:txBody>
      </p:sp>
    </p:spTree>
    <p:extLst>
      <p:ext uri="{BB962C8B-B14F-4D97-AF65-F5344CB8AC3E}">
        <p14:creationId xmlns:p14="http://schemas.microsoft.com/office/powerpoint/2010/main" val="8980671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9" name="Picture 4"/>
          <p:cNvPicPr>
            <a:picLocks xmlns:a="http://schemas.openxmlformats.org/drawingml/2006/main" noChangeAspect="1"/>
          </p:cNvPicPr>
          <p:nvPr/>
        </p:nvPicPr>
        <p:blipFill>
          <a:blip xmlns:r="http://schemas.openxmlformats.org/officeDocument/2006/relationships" xmlns:a="http://schemas.openxmlformats.org/drawingml/2006/main" r:embed="Rd4cea145eacf4837"/>
          <a:stretch xmlns:a="http://schemas.openxmlformats.org/drawingml/2006/main">
            <a:fillRect l="0" t="0" r="0" b="0"/>
          </a:stretch>
        </p:blipFill>
        <p:spPr>
          <a:xfrm xmlns:a="http://schemas.openxmlformats.org/drawingml/2006/main">
            <a:off x="232016" y="237067"/>
            <a:ext cx="11727967" cy="6155266"/>
          </a:xfrm>
          <a:prstGeom xmlns:a="http://schemas.openxmlformats.org/drawingml/2006/main" prst="rect">
            <a:avLst/>
          </a:prstGeom>
        </p:spPr>
      </p:pic>
      <p:sp>
        <p:nvSpPr>
          <p:cNvPr id="6" name="Slide Number Placeholder 0">
            <a:extLst xmlns:a="http://schemas.openxmlformats.org/drawingml/2006/main">
              <a:ext uri="{FF2B5EF4-FFF2-40B4-BE49-F238E27FC236}">
                <a16:creationId xmlns:a16="http://schemas.microsoft.com/office/drawing/2014/main" id="{4057594D-513F-F95A-5C99-4E769E8E8790}"/>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7</a:t>
            </a:fld>
            <a:endParaRPr/>
          </a:p>
        </p:txBody>
      </p:sp>
      <p:sp>
        <p:nvSpPr>
          <p:cNvPr id="8" name="Illustrative example context 7">
            <a:extLst xmlns:a="http://schemas.openxmlformats.org/drawingml/2006/main">
              <a:ext uri="{FF2B5EF4-FFF2-40B4-BE49-F238E27FC236}">
                <a16:creationId xmlns:a16="http://schemas.microsoft.com/office/drawing/2014/main" id="{2CE1444A-F5F5-4ABD-8894-BF059555C3BB}"/>
              </a:ext>
            </a:extLst>
          </p:cNvPr>
          <p:cNvSpPr>
            <a:spLocks xmlns:a="http://schemas.openxmlformats.org/drawingml/2006/main" noGrp="1"/>
          </p:cNvSpPr>
          <p:nvPr/>
        </p:nvSpPr>
        <p:spPr>
          <a:xfrm xmlns:a="http://schemas.openxmlformats.org/drawingml/2006/main">
            <a:off x="514350" y="6286500"/>
            <a:ext cx="10763250" cy="171450"/>
          </a:xfrm>
          <a:prstGeom xmlns:a="http://schemas.openxmlformats.org/drawingml/2006/main" prst="rect">
            <a:avLst/>
          </a:prstGeom>
          <a:solidFill xmlns:a="http://schemas.openxmlformats.org/drawingml/2006/main">
            <a:srgbClr val="FBFAFF"/>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63">
                <a:solidFill>
                  <a:srgbClr val="5F5877"/>
                </a:solidFill>
                <a:latin typeface="Aptos"/>
                <a:ea typeface="Aptos"/>
                <a:cs typeface="Aptos"/>
              </a:defRPr>
            </a:pPr>
            <a:r>
              <a:rPr sz="863">
                <a:solidFill>
                  <a:srgbClr val="5F5877"/>
                </a:solidFill>
                <a:latin typeface="Aptos"/>
                <a:ea typeface="Aptos"/>
                <a:cs typeface="Aptos"/>
              </a:rPr>
              <a:t>Illustrative API example. Fields, states, and responses are fictional and require provider validation.</a:t>
            </a:r>
          </a:p>
        </p:txBody>
      </p:sp>
    </p:spTree>
    <p:extLst>
      <p:ext uri="{BB962C8B-B14F-4D97-AF65-F5344CB8AC3E}">
        <p14:creationId xmlns:p14="http://schemas.microsoft.com/office/powerpoint/2010/main" val="205388355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F4A737-5139-448B-90E7-E9C4E769189D}"/>
              </a:ext>
            </a:extLst>
          </p:cNvPr>
          <p:cNvSpPr>
            <a:spLocks xmlns:a="http://schemas.openxmlformats.org/drawingml/2006/main" noGrp="1"/>
          </p:cNvSpPr>
          <p:nvPr/>
        </p:nvSpPr>
        <p:spPr>
          <a:xfrm xmlns:a="http://schemas.openxmlformats.org/drawingml/2006/main">
            <a:off x="548640" y="347472"/>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000" b="1">
                <a:solidFill>
                  <a:srgbClr val="11113F"/>
                </a:solidFill>
              </a:rPr>
              <a:t>Failure Handling &amp; Recovery</a:t>
            </a:r>
          </a:p>
        </p:txBody>
      </p:sp>
      <p:sp>
        <p:nvSpPr>
          <p:cNvPr id="3" name="Text 1">
            <a:extLst xmlns:a="http://schemas.openxmlformats.org/drawingml/2006/main">
              <a:ext uri="{FF2B5EF4-FFF2-40B4-BE49-F238E27FC236}">
                <a16:creationId xmlns:a16="http://schemas.microsoft.com/office/drawing/2014/main" id="{12218426-B042-469B-9FBD-86E2D7323002}"/>
              </a:ext>
            </a:extLst>
          </p:cNvPr>
          <p:cNvSpPr>
            <a:spLocks xmlns:a="http://schemas.openxmlformats.org/drawingml/2006/main" noGrp="1"/>
          </p:cNvSpPr>
          <p:nvPr/>
        </p:nvSpPr>
        <p:spPr>
          <a:xfrm xmlns:a="http://schemas.openxmlformats.org/drawingml/2006/main">
            <a:off x="566928" y="804672"/>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E5872"/>
                </a:solidFill>
              </a:rPr>
              <a:t>Design the UI so failures are visible, specific, and recoverable.</a:t>
            </a:r>
            <a:endParaRPr sz="1300"/>
          </a:p>
        </p:txBody>
      </p:sp>
      <p:sp>
        <p:nvSpPr>
          <p:cNvPr id="4" name="Shape 2">
            <a:extLst xmlns:a="http://schemas.openxmlformats.org/drawingml/2006/main">
              <a:ext uri="{FF2B5EF4-FFF2-40B4-BE49-F238E27FC236}">
                <a16:creationId xmlns:a16="http://schemas.microsoft.com/office/drawing/2014/main" id="{0021FF20-316A-4080-A3DE-53C4F4227349}"/>
              </a:ext>
            </a:extLst>
          </p:cNvPr>
          <p:cNvSpPr>
            <a:spLocks xmlns:a="http://schemas.openxmlformats.org/drawingml/2006/main" noGrp="1"/>
          </p:cNvSpPr>
          <p:nvPr/>
        </p:nvSpPr>
        <p:spPr>
          <a:xfrm xmlns:a="http://schemas.openxmlformats.org/drawingml/2006/main">
            <a:off x="731520" y="1325880"/>
            <a:ext cx="4983480" cy="1417320"/>
          </a:xfrm>
          <a:prstGeom xmlns:a="http://schemas.openxmlformats.org/drawingml/2006/main" prst="roundRect">
            <a:avLst>
              <a:gd name="adj" fmla="val 5161"/>
            </a:avLst>
          </a:prstGeom>
          <a:noFill xmlns:a="http://schemas.openxmlformats.org/drawingml/2006/main"/>
          <a:ln xmlns:a="http://schemas.openxmlformats.org/drawingml/2006/main" w="12700">
            <a:solidFill>
              <a:srgbClr val="DED6F0"/>
            </a:solidFill>
            <a:prstDash val="solid"/>
          </a:ln>
        </p:spPr>
      </p:sp>
      <p:sp>
        <p:nvSpPr>
          <p:cNvPr id="5" name="Text 3">
            <a:extLst xmlns:a="http://schemas.openxmlformats.org/drawingml/2006/main">
              <a:ext uri="{FF2B5EF4-FFF2-40B4-BE49-F238E27FC236}">
                <a16:creationId xmlns:a16="http://schemas.microsoft.com/office/drawing/2014/main" id="{5541DAC9-747C-4D7B-94CB-952A85DC55B6}"/>
              </a:ext>
            </a:extLst>
          </p:cNvPr>
          <p:cNvSpPr>
            <a:spLocks xmlns:a="http://schemas.openxmlformats.org/drawingml/2006/main" noGrp="1"/>
          </p:cNvSpPr>
          <p:nvPr/>
        </p:nvSpPr>
        <p:spPr>
          <a:xfrm xmlns:a="http://schemas.openxmlformats.org/drawingml/2006/main">
            <a:off x="914400" y="146304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Validation error</a:t>
            </a:r>
            <a:endParaRPr sz="1700"/>
          </a:p>
        </p:txBody>
      </p:sp>
      <p:sp>
        <p:nvSpPr>
          <p:cNvPr id="6" name="Text 4">
            <a:extLst xmlns:a="http://schemas.openxmlformats.org/drawingml/2006/main">
              <a:ext uri="{FF2B5EF4-FFF2-40B4-BE49-F238E27FC236}">
                <a16:creationId xmlns:a16="http://schemas.microsoft.com/office/drawing/2014/main" id="{95A334B0-FF6B-4CB0-ABB7-B9170E8A3811}"/>
              </a:ext>
            </a:extLst>
          </p:cNvPr>
          <p:cNvSpPr>
            <a:spLocks xmlns:a="http://schemas.openxmlformats.org/drawingml/2006/main" noGrp="1"/>
          </p:cNvSpPr>
          <p:nvPr/>
        </p:nvSpPr>
        <p:spPr>
          <a:xfrm xmlns:a="http://schemas.openxmlformats.org/drawingml/2006/main">
            <a:off x="914400" y="182880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a:bodyPr>
          <a:lstStyle xmlns:a="http://schemas.openxmlformats.org/drawingml/2006/main"/>
          <a:p xmlns:a="http://schemas.openxmlformats.org/drawingml/2006/main">
            <a:pPr marL="0" indent="0">
              <a:buNone/>
            </a:pPr>
            <a:r>
              <a:rPr sz="1350">
                <a:solidFill>
                  <a:srgbClr val="19142B"/>
                </a:solidFill>
              </a:rPr>
              <a:t>Show field-level corrections before creating the provider record.</a:t>
            </a:r>
            <a:endParaRPr sz="1350"/>
          </a:p>
        </p:txBody>
      </p:sp>
      <p:sp>
        <p:nvSpPr>
          <p:cNvPr id="7" name="Text 5">
            <a:extLst xmlns:a="http://schemas.openxmlformats.org/drawingml/2006/main">
              <a:ext uri="{FF2B5EF4-FFF2-40B4-BE49-F238E27FC236}">
                <a16:creationId xmlns:a16="http://schemas.microsoft.com/office/drawing/2014/main" id="{EAF97F70-09E9-489E-807D-080D6FBA535A}"/>
              </a:ext>
            </a:extLst>
          </p:cNvPr>
          <p:cNvSpPr>
            <a:spLocks xmlns:a="http://schemas.openxmlformats.org/drawingml/2006/main" noGrp="1"/>
          </p:cNvSpPr>
          <p:nvPr/>
        </p:nvSpPr>
        <p:spPr>
          <a:xfrm xmlns:a="http://schemas.openxmlformats.org/drawingml/2006/main">
            <a:off x="914400" y="225856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Action owner: User</a:t>
            </a:r>
            <a:endParaRPr sz="1250"/>
          </a:p>
        </p:txBody>
      </p:sp>
      <p:sp>
        <p:nvSpPr>
          <p:cNvPr id="8" name="Shape 6">
            <a:extLst xmlns:a="http://schemas.openxmlformats.org/drawingml/2006/main">
              <a:ext uri="{FF2B5EF4-FFF2-40B4-BE49-F238E27FC236}">
                <a16:creationId xmlns:a16="http://schemas.microsoft.com/office/drawing/2014/main" id="{91A99C35-CACD-444F-9BDA-23FC0FEE1034}"/>
              </a:ext>
            </a:extLst>
          </p:cNvPr>
          <p:cNvSpPr>
            <a:spLocks xmlns:a="http://schemas.openxmlformats.org/drawingml/2006/main" noGrp="1"/>
          </p:cNvSpPr>
          <p:nvPr/>
        </p:nvSpPr>
        <p:spPr>
          <a:xfrm xmlns:a="http://schemas.openxmlformats.org/drawingml/2006/main">
            <a:off x="6263640" y="1325880"/>
            <a:ext cx="498348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2700">
            <a:solidFill>
              <a:srgbClr val="DED6F0"/>
            </a:solidFill>
            <a:prstDash val="solid"/>
          </a:ln>
        </p:spPr>
      </p:sp>
      <p:sp>
        <p:nvSpPr>
          <p:cNvPr id="9" name="Text 7">
            <a:extLst xmlns:a="http://schemas.openxmlformats.org/drawingml/2006/main">
              <a:ext uri="{FF2B5EF4-FFF2-40B4-BE49-F238E27FC236}">
                <a16:creationId xmlns:a16="http://schemas.microsoft.com/office/drawing/2014/main" id="{2EC4F269-F97D-40BB-87E8-95E3A3B49852}"/>
              </a:ext>
            </a:extLst>
          </p:cNvPr>
          <p:cNvSpPr>
            <a:spLocks xmlns:a="http://schemas.openxmlformats.org/drawingml/2006/main" noGrp="1"/>
          </p:cNvSpPr>
          <p:nvPr/>
        </p:nvSpPr>
        <p:spPr>
          <a:xfrm xmlns:a="http://schemas.openxmlformats.org/drawingml/2006/main">
            <a:off x="6446520" y="146304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Provider API timeout</a:t>
            </a:r>
            <a:endParaRPr sz="1700"/>
          </a:p>
        </p:txBody>
      </p:sp>
      <p:sp>
        <p:nvSpPr>
          <p:cNvPr id="10" name="Text 8">
            <a:extLst xmlns:a="http://schemas.openxmlformats.org/drawingml/2006/main">
              <a:ext uri="{FF2B5EF4-FFF2-40B4-BE49-F238E27FC236}">
                <a16:creationId xmlns:a16="http://schemas.microsoft.com/office/drawing/2014/main" id="{0E45064A-2980-4AD5-8D99-62FE6C4245F2}"/>
              </a:ext>
            </a:extLst>
          </p:cNvPr>
          <p:cNvSpPr>
            <a:spLocks xmlns:a="http://schemas.openxmlformats.org/drawingml/2006/main" noGrp="1"/>
          </p:cNvSpPr>
          <p:nvPr/>
        </p:nvSpPr>
        <p:spPr>
          <a:xfrm xmlns:a="http://schemas.openxmlformats.org/drawingml/2006/main">
            <a:off x="6446520" y="182880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350">
                <a:solidFill>
                  <a:srgbClr val="19142B"/>
                </a:solidFill>
              </a:rPr>
              <a:t>Show “creating hire” with safe retry/backoff.</a:t>
            </a:r>
            <a:endParaRPr sz="1350"/>
          </a:p>
        </p:txBody>
      </p:sp>
      <p:sp>
        <p:nvSpPr>
          <p:cNvPr id="11" name="Text 9">
            <a:extLst xmlns:a="http://schemas.openxmlformats.org/drawingml/2006/main">
              <a:ext uri="{FF2B5EF4-FFF2-40B4-BE49-F238E27FC236}">
                <a16:creationId xmlns:a16="http://schemas.microsoft.com/office/drawing/2014/main" id="{FEF32462-4B05-4316-B75F-EE59DE97DECC}"/>
              </a:ext>
            </a:extLst>
          </p:cNvPr>
          <p:cNvSpPr>
            <a:spLocks xmlns:a="http://schemas.openxmlformats.org/drawingml/2006/main" noGrp="1"/>
          </p:cNvSpPr>
          <p:nvPr/>
        </p:nvSpPr>
        <p:spPr>
          <a:xfrm xmlns:a="http://schemas.openxmlformats.org/drawingml/2006/main">
            <a:off x="6446520" y="225856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Action owner: System (automatic retry)</a:t>
            </a:r>
            <a:endParaRPr sz="1250"/>
          </a:p>
        </p:txBody>
      </p:sp>
      <p:sp>
        <p:nvSpPr>
          <p:cNvPr id="12" name="Shape 10">
            <a:extLst xmlns:a="http://schemas.openxmlformats.org/drawingml/2006/main">
              <a:ext uri="{FF2B5EF4-FFF2-40B4-BE49-F238E27FC236}">
                <a16:creationId xmlns:a16="http://schemas.microsoft.com/office/drawing/2014/main" id="{FB542A4F-87AF-46C7-A42C-824D702E89CD}"/>
              </a:ext>
            </a:extLst>
          </p:cNvPr>
          <p:cNvSpPr>
            <a:spLocks xmlns:a="http://schemas.openxmlformats.org/drawingml/2006/main" noGrp="1"/>
          </p:cNvSpPr>
          <p:nvPr/>
        </p:nvSpPr>
        <p:spPr>
          <a:xfrm xmlns:a="http://schemas.openxmlformats.org/drawingml/2006/main">
            <a:off x="731520" y="3200400"/>
            <a:ext cx="4983480" cy="1417320"/>
          </a:xfrm>
          <a:prstGeom xmlns:a="http://schemas.openxmlformats.org/drawingml/2006/main" prst="roundRect">
            <a:avLst>
              <a:gd name="adj" fmla="val 5161"/>
            </a:avLst>
          </a:prstGeom>
          <a:noFill xmlns:a="http://schemas.openxmlformats.org/drawingml/2006/main"/>
          <a:ln xmlns:a="http://schemas.openxmlformats.org/drawingml/2006/main" w="12700">
            <a:solidFill>
              <a:srgbClr val="DED6F0"/>
            </a:solidFill>
            <a:prstDash val="solid"/>
          </a:ln>
        </p:spPr>
      </p:sp>
      <p:sp>
        <p:nvSpPr>
          <p:cNvPr id="13" name="Text 11">
            <a:extLst xmlns:a="http://schemas.openxmlformats.org/drawingml/2006/main">
              <a:ext uri="{FF2B5EF4-FFF2-40B4-BE49-F238E27FC236}">
                <a16:creationId xmlns:a16="http://schemas.microsoft.com/office/drawing/2014/main" id="{D6671350-0E9B-4D52-8CB0-7DE956C23175}"/>
              </a:ext>
            </a:extLst>
          </p:cNvPr>
          <p:cNvSpPr>
            <a:spLocks xmlns:a="http://schemas.openxmlformats.org/drawingml/2006/main" noGrp="1"/>
          </p:cNvSpPr>
          <p:nvPr/>
        </p:nvSpPr>
        <p:spPr>
          <a:xfrm xmlns:a="http://schemas.openxmlformats.org/drawingml/2006/main">
            <a:off x="914400" y="333756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98137"/>
          </a:bodyPr>
          <a:lstStyle xmlns:a="http://schemas.openxmlformats.org/drawingml/2006/main"/>
          <a:p xmlns:a="http://schemas.openxmlformats.org/drawingml/2006/main">
            <a:pPr marL="0" indent="0">
              <a:buNone/>
            </a:pPr>
            <a:r>
              <a:rPr sz="1700" b="1">
                <a:solidFill>
                  <a:srgbClr val="5E36D7"/>
                </a:solidFill>
              </a:rPr>
              <a:t>Record created, mapping commit failed</a:t>
            </a:r>
            <a:endParaRPr sz="1700"/>
          </a:p>
        </p:txBody>
      </p:sp>
      <p:sp>
        <p:nvSpPr>
          <p:cNvPr id="14" name="Text 12">
            <a:extLst xmlns:a="http://schemas.openxmlformats.org/drawingml/2006/main">
              <a:ext uri="{FF2B5EF4-FFF2-40B4-BE49-F238E27FC236}">
                <a16:creationId xmlns:a16="http://schemas.microsoft.com/office/drawing/2014/main" id="{6B257FB3-32EC-49D8-B6AA-B11EA81335CE}"/>
              </a:ext>
            </a:extLst>
          </p:cNvPr>
          <p:cNvSpPr>
            <a:spLocks xmlns:a="http://schemas.openxmlformats.org/drawingml/2006/main" noGrp="1"/>
          </p:cNvSpPr>
          <p:nvPr/>
        </p:nvSpPr>
        <p:spPr>
          <a:xfrm xmlns:a="http://schemas.openxmlformats.org/drawingml/2006/main">
            <a:off x="914400" y="370332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a:bodyPr>
          <a:lstStyle xmlns:a="http://schemas.openxmlformats.org/drawingml/2006/main"/>
          <a:p xmlns:a="http://schemas.openxmlformats.org/drawingml/2006/main">
            <a:pPr marL="0" indent="0">
              <a:buNone/>
            </a:pPr>
            <a:r>
              <a:rPr sz="1350">
                <a:solidFill>
                  <a:srgbClr val="19142B"/>
                </a:solidFill>
              </a:rPr>
              <a:t>Show “syncing record” and prevent duplicate creation.</a:t>
            </a:r>
            <a:endParaRPr sz="1350"/>
          </a:p>
        </p:txBody>
      </p:sp>
      <p:sp>
        <p:nvSpPr>
          <p:cNvPr id="15" name="Text 13">
            <a:extLst xmlns:a="http://schemas.openxmlformats.org/drawingml/2006/main">
              <a:ext uri="{FF2B5EF4-FFF2-40B4-BE49-F238E27FC236}">
                <a16:creationId xmlns:a16="http://schemas.microsoft.com/office/drawing/2014/main" id="{473551CE-9B72-4897-80A0-6DB288311A66}"/>
              </a:ext>
            </a:extLst>
          </p:cNvPr>
          <p:cNvSpPr>
            <a:spLocks xmlns:a="http://schemas.openxmlformats.org/drawingml/2006/main" noGrp="1"/>
          </p:cNvSpPr>
          <p:nvPr/>
        </p:nvSpPr>
        <p:spPr>
          <a:xfrm xmlns:a="http://schemas.openxmlformats.org/drawingml/2006/main">
            <a:off x="914400" y="413308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Action owner: Operations / Reconciliation Worker</a:t>
            </a:r>
            <a:endParaRPr sz="1250"/>
          </a:p>
        </p:txBody>
      </p:sp>
      <p:sp>
        <p:nvSpPr>
          <p:cNvPr id="16" name="Shape 14">
            <a:extLst xmlns:a="http://schemas.openxmlformats.org/drawingml/2006/main">
              <a:ext uri="{FF2B5EF4-FFF2-40B4-BE49-F238E27FC236}">
                <a16:creationId xmlns:a16="http://schemas.microsoft.com/office/drawing/2014/main" id="{1B2F7E56-31D5-4E9B-A4E9-527A7EF81F15}"/>
              </a:ext>
            </a:extLst>
          </p:cNvPr>
          <p:cNvSpPr>
            <a:spLocks xmlns:a="http://schemas.openxmlformats.org/drawingml/2006/main" noGrp="1"/>
          </p:cNvSpPr>
          <p:nvPr/>
        </p:nvSpPr>
        <p:spPr>
          <a:xfrm xmlns:a="http://schemas.openxmlformats.org/drawingml/2006/main">
            <a:off x="6263640" y="3200400"/>
            <a:ext cx="498348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2700">
            <a:solidFill>
              <a:srgbClr val="DED6F0"/>
            </a:solidFill>
            <a:prstDash val="solid"/>
          </a:ln>
        </p:spPr>
      </p:sp>
      <p:sp>
        <p:nvSpPr>
          <p:cNvPr id="17" name="Text 15">
            <a:extLst xmlns:a="http://schemas.openxmlformats.org/drawingml/2006/main">
              <a:ext uri="{FF2B5EF4-FFF2-40B4-BE49-F238E27FC236}">
                <a16:creationId xmlns:a16="http://schemas.microsoft.com/office/drawing/2014/main" id="{E60F52ED-FD2A-4510-8534-41C8002AF7CD}"/>
              </a:ext>
            </a:extLst>
          </p:cNvPr>
          <p:cNvSpPr>
            <a:spLocks xmlns:a="http://schemas.openxmlformats.org/drawingml/2006/main" noGrp="1"/>
          </p:cNvSpPr>
          <p:nvPr/>
        </p:nvSpPr>
        <p:spPr>
          <a:xfrm xmlns:a="http://schemas.openxmlformats.org/drawingml/2006/main">
            <a:off x="6446520" y="333756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Eligibility/compliance blocked</a:t>
            </a:r>
            <a:endParaRPr sz="1700">
              <a:solidFill>
                <a:srgbClr val="5E36D7"/>
              </a:solidFill>
            </a:endParaRPr>
          </a:p>
        </p:txBody>
      </p:sp>
      <p:sp>
        <p:nvSpPr>
          <p:cNvPr id="18" name="Text 16">
            <a:extLst xmlns:a="http://schemas.openxmlformats.org/drawingml/2006/main">
              <a:ext uri="{FF2B5EF4-FFF2-40B4-BE49-F238E27FC236}">
                <a16:creationId xmlns:a16="http://schemas.microsoft.com/office/drawing/2014/main" id="{EAC38323-02A1-43B1-BB77-C5394E79CA38}"/>
              </a:ext>
            </a:extLst>
          </p:cNvPr>
          <p:cNvSpPr>
            <a:spLocks xmlns:a="http://schemas.openxmlformats.org/drawingml/2006/main" noGrp="1"/>
          </p:cNvSpPr>
          <p:nvPr/>
        </p:nvSpPr>
        <p:spPr>
          <a:xfrm xmlns:a="http://schemas.openxmlformats.org/drawingml/2006/main">
            <a:off x="6446520" y="370332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a:bodyPr>
          <a:lstStyle xmlns:a="http://schemas.openxmlformats.org/drawingml/2006/main"/>
          <a:p xmlns:a="http://schemas.openxmlformats.org/drawingml/2006/main">
            <a:pPr marL="0" indent="0">
              <a:buNone/>
            </a:pPr>
            <a:r>
              <a:rPr sz="1350">
                <a:solidFill>
                  <a:srgbClr val="19142B"/>
                </a:solidFill>
              </a:rPr>
              <a:t>Show the next action and owner supplied by the provider.</a:t>
            </a:r>
            <a:endParaRPr sz="1350"/>
          </a:p>
        </p:txBody>
      </p:sp>
      <p:sp>
        <p:nvSpPr>
          <p:cNvPr id="19" name="Text 17">
            <a:extLst xmlns:a="http://schemas.openxmlformats.org/drawingml/2006/main">
              <a:ext uri="{FF2B5EF4-FFF2-40B4-BE49-F238E27FC236}">
                <a16:creationId xmlns:a16="http://schemas.microsoft.com/office/drawing/2014/main" id="{D082BB29-8B03-4917-9B79-7B1849A45EBC}"/>
              </a:ext>
            </a:extLst>
          </p:cNvPr>
          <p:cNvSpPr>
            <a:spLocks xmlns:a="http://schemas.openxmlformats.org/drawingml/2006/main" noGrp="1"/>
          </p:cNvSpPr>
          <p:nvPr/>
        </p:nvSpPr>
        <p:spPr>
          <a:xfrm xmlns:a="http://schemas.openxmlformats.org/drawingml/2006/main">
            <a:off x="6446520" y="413308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Action owner: Employee or provider</a:t>
            </a:r>
            <a:endParaRPr sz="1250"/>
          </a:p>
        </p:txBody>
      </p:sp>
      <p:sp>
        <p:nvSpPr>
          <p:cNvPr id="20" name="Text 18">
            <a:extLst xmlns:a="http://schemas.openxmlformats.org/drawingml/2006/main">
              <a:ext uri="{FF2B5EF4-FFF2-40B4-BE49-F238E27FC236}">
                <a16:creationId xmlns:a16="http://schemas.microsoft.com/office/drawing/2014/main" id="{B89C0CBF-9995-4DD4-8CCE-3AC53F6C0524}"/>
              </a:ext>
            </a:extLst>
          </p:cNvPr>
          <p:cNvSpPr>
            <a:spLocks xmlns:a="http://schemas.openxmlformats.org/drawingml/2006/main" noGrp="1"/>
          </p:cNvSpPr>
          <p:nvPr/>
        </p:nvSpPr>
        <p:spPr>
          <a:xfrm xmlns:a="http://schemas.openxmlformats.org/drawingml/2006/main">
            <a:off x="960120" y="5232903"/>
            <a:ext cx="10149840" cy="597529"/>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9142B"/>
                </a:solidFill>
              </a:rPr>
              <a:t>Do not expose raw transport errors to end users. Translate to business states with a support reference.</a:t>
            </a:r>
            <a:endParaRPr sz="2200"/>
          </a:p>
        </p:txBody>
      </p:sp>
      <p:sp>
        <p:nvSpPr>
          <p:cNvPr id="25" name="Slide Number Placeholder 0">
            <a:extLst xmlns:a="http://schemas.openxmlformats.org/drawingml/2006/main">
              <a:ext uri="{FF2B5EF4-FFF2-40B4-BE49-F238E27FC236}">
                <a16:creationId xmlns:a16="http://schemas.microsoft.com/office/drawing/2014/main" id="{85C44BCC-E0FE-4550-8509-3D027DD002EA}"/>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8</a:t>
            </a:fld>
            <a:endParaRPr/>
          </a:p>
        </p:txBody>
      </p:sp>
    </p:spTree>
    <p:extLst>
      <p:ext uri="{BB962C8B-B14F-4D97-AF65-F5344CB8AC3E}">
        <p14:creationId xmlns:p14="http://schemas.microsoft.com/office/powerpoint/2010/main" val="11468671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Slide Number Placeholder 0">
            <a:extLst xmlns:a="http://schemas.openxmlformats.org/drawingml/2006/main">
              <a:ext uri="{FF2B5EF4-FFF2-40B4-BE49-F238E27FC236}">
                <a16:creationId xmlns:a16="http://schemas.microsoft.com/office/drawing/2014/main" id="{7E4AB123-B2D6-367D-8EBF-DAD0B43D978A}"/>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9</a:t>
            </a:fld>
            <a:endParaRPr/>
          </a:p>
        </p:txBody>
      </p:sp>
      <p:pic>
        <p:nvPicPr>
          <p:cNvPr id="9" name="Picture 6"/>
          <p:cNvPicPr>
            <a:picLocks xmlns:a="http://schemas.openxmlformats.org/drawingml/2006/main" noChangeAspect="1"/>
          </p:cNvPicPr>
          <p:nvPr/>
        </p:nvPicPr>
        <p:blipFill>
          <a:blip xmlns:r="http://schemas.openxmlformats.org/officeDocument/2006/relationships" xmlns:a="http://schemas.openxmlformats.org/drawingml/2006/main" r:embed="Rf30e48e4f3f54ff8"/>
          <a:stretch xmlns:a="http://schemas.openxmlformats.org/drawingml/2006/main">
            <a:fillRect l="0" t="0" r="0" b="0"/>
          </a:stretch>
        </p:blipFill>
        <p:spPr>
          <a:xfrm xmlns:a="http://schemas.openxmlformats.org/drawingml/2006/main">
            <a:off x="291402" y="218722"/>
            <a:ext cx="11900598" cy="5953478"/>
          </a:xfrm>
          <a:prstGeom xmlns:a="http://schemas.openxmlformats.org/drawingml/2006/main" prst="rect">
            <a:avLst/>
          </a:prstGeom>
        </p:spPr>
      </p:pic>
      <p:sp>
        <p:nvSpPr>
          <p:cNvPr id="7" name="Illustrative example context 9">
            <a:extLst xmlns:a="http://schemas.openxmlformats.org/drawingml/2006/main">
              <a:ext uri="{FF2B5EF4-FFF2-40B4-BE49-F238E27FC236}">
                <a16:creationId xmlns:a16="http://schemas.microsoft.com/office/drawing/2014/main" id="{D21D94A7-ABB0-4B58-B726-DD929A6C2A69}"/>
              </a:ext>
            </a:extLst>
          </p:cNvPr>
          <p:cNvSpPr>
            <a:spLocks xmlns:a="http://schemas.openxmlformats.org/drawingml/2006/main" noGrp="1"/>
          </p:cNvSpPr>
          <p:nvPr/>
        </p:nvSpPr>
        <p:spPr>
          <a:xfrm xmlns:a="http://schemas.openxmlformats.org/drawingml/2006/main">
            <a:off x="514350" y="6286500"/>
            <a:ext cx="10763250" cy="171450"/>
          </a:xfrm>
          <a:prstGeom xmlns:a="http://schemas.openxmlformats.org/drawingml/2006/main" prst="rect">
            <a:avLst/>
          </a:prstGeom>
          <a:solidFill xmlns:a="http://schemas.openxmlformats.org/drawingml/2006/main">
            <a:srgbClr val="FBFAFF"/>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63">
                <a:solidFill>
                  <a:srgbClr val="5F5877"/>
                </a:solidFill>
                <a:latin typeface="Aptos"/>
                <a:ea typeface="Aptos"/>
                <a:cs typeface="Aptos"/>
              </a:defRPr>
            </a:pPr>
            <a:r>
              <a:rPr sz="863">
                <a:solidFill>
                  <a:srgbClr val="5F5877"/>
                </a:solidFill>
                <a:latin typeface="Aptos"/>
                <a:ea typeface="Aptos"/>
                <a:cs typeface="Aptos"/>
              </a:rPr>
              <a:t>Illustrative API example. Fields, states, and responses are fictional and require provider validation.</a:t>
            </a:r>
          </a:p>
        </p:txBody>
      </p:sp>
    </p:spTree>
    <p:extLst>
      <p:ext uri="{BB962C8B-B14F-4D97-AF65-F5344CB8AC3E}">
        <p14:creationId xmlns:p14="http://schemas.microsoft.com/office/powerpoint/2010/main" val="100167465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6" name="Picture 2"/>
          <p:cNvPicPr>
            <a:picLocks xmlns:a="http://schemas.openxmlformats.org/drawingml/2006/main" noChangeAspect="1"/>
          </p:cNvPicPr>
          <p:nvPr/>
        </p:nvPicPr>
        <p:blipFill>
          <a:blip xmlns:r="http://schemas.openxmlformats.org/officeDocument/2006/relationships" xmlns:a="http://schemas.openxmlformats.org/drawingml/2006/main" r:embed="R1caa6584d62149c8"/>
          <a:stretch xmlns:a="http://schemas.openxmlformats.org/drawingml/2006/main">
            <a:fillRect l="0" t="0" r="0" b="0"/>
          </a:stretch>
        </p:blipFill>
        <p:spPr>
          <a:xfrm xmlns:a="http://schemas.openxmlformats.org/drawingml/2006/main">
            <a:off x="955848" y="261257"/>
            <a:ext cx="10280303" cy="6209882"/>
          </a:xfrm>
          <a:prstGeom xmlns:a="http://schemas.openxmlformats.org/drawingml/2006/main" prst="rect">
            <a:avLst/>
          </a:prstGeom>
        </p:spPr>
      </p:pic>
      <p:sp>
        <p:nvSpPr>
          <p:cNvPr id="4" name="Slide Number Placeholder 0">
            <a:extLst xmlns:a="http://schemas.openxmlformats.org/drawingml/2006/main">
              <a:ext uri="{FF2B5EF4-FFF2-40B4-BE49-F238E27FC236}">
                <a16:creationId xmlns:a16="http://schemas.microsoft.com/office/drawing/2014/main" id="{86908C7C-82C9-F824-93CC-6C3B94482210}"/>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10</a:t>
            </a:fld>
            <a:endParaRPr/>
          </a:p>
        </p:txBody>
      </p:sp>
    </p:spTree>
    <p:extLst>
      <p:ext uri="{BB962C8B-B14F-4D97-AF65-F5344CB8AC3E}">
        <p14:creationId xmlns:p14="http://schemas.microsoft.com/office/powerpoint/2010/main" val="4240944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5338259-F540-7908-9E3B-6687F992C10B}"/>
              </a:ext>
            </a:extLst>
          </p:cNvPr>
          <p:cNvSpPr>
            <a:spLocks xmlns:a="http://schemas.openxmlformats.org/drawingml/2006/main" noGrp="1"/>
          </p:cNvSpPr>
          <p:nvPr/>
        </p:nvSpPr>
        <p:spPr>
          <a:xfrm xmlns:a="http://schemas.openxmlformats.org/drawingml/2006/main">
            <a:off x="548640" y="347472"/>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13F"/>
                </a:solidFill>
                <a:latin typeface="Aptos Display"/>
                <a:ea typeface="Aptos Display"/>
                <a:cs typeface="Aptos Display"/>
              </a:rPr>
              <a:t>Handling Duplicate, Out-of-order, and Missed Events</a:t>
            </a:r>
            <a:endParaRPr sz="3000">
              <a:solidFill>
                <a:srgbClr val="11113F"/>
              </a:solidFill>
            </a:endParaRPr>
          </a:p>
        </p:txBody>
      </p:sp>
      <p:sp>
        <p:nvSpPr>
          <p:cNvPr id="3" name="Text 1">
            <a:extLst xmlns:a="http://schemas.openxmlformats.org/drawingml/2006/main">
              <a:ext uri="{FF2B5EF4-FFF2-40B4-BE49-F238E27FC236}">
                <a16:creationId xmlns:a16="http://schemas.microsoft.com/office/drawing/2014/main" id="{686670B9-1057-4F1A-47CF-EFAB585F32FF}"/>
              </a:ext>
            </a:extLst>
          </p:cNvPr>
          <p:cNvSpPr>
            <a:spLocks xmlns:a="http://schemas.openxmlformats.org/drawingml/2006/main" noGrp="1"/>
          </p:cNvSpPr>
          <p:nvPr/>
        </p:nvSpPr>
        <p:spPr>
          <a:xfrm xmlns:a="http://schemas.openxmlformats.org/drawingml/2006/main">
            <a:off x="566928" y="804672"/>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E5872"/>
                </a:solidFill>
              </a:rPr>
              <a:t>Design for eventual consistency when webhook delivery is imperfect.</a:t>
            </a:r>
            <a:endParaRPr sz="1300"/>
          </a:p>
        </p:txBody>
      </p:sp>
      <p:sp>
        <p:nvSpPr>
          <p:cNvPr id="4" name="Shape 2">
            <a:extLst xmlns:a="http://schemas.openxmlformats.org/drawingml/2006/main">
              <a:ext uri="{FF2B5EF4-FFF2-40B4-BE49-F238E27FC236}">
                <a16:creationId xmlns:a16="http://schemas.microsoft.com/office/drawing/2014/main" id="{C40B75F8-1FB7-18E9-19C6-4A5CEB7A178E}"/>
              </a:ext>
            </a:extLst>
          </p:cNvPr>
          <p:cNvSpPr>
            <a:spLocks xmlns:a="http://schemas.openxmlformats.org/drawingml/2006/main" noGrp="1"/>
          </p:cNvSpPr>
          <p:nvPr/>
        </p:nvSpPr>
        <p:spPr>
          <a:xfrm xmlns:a="http://schemas.openxmlformats.org/drawingml/2006/main">
            <a:off x="731520" y="1325880"/>
            <a:ext cx="4983480" cy="1417320"/>
          </a:xfrm>
          <a:prstGeom xmlns:a="http://schemas.openxmlformats.org/drawingml/2006/main" prst="roundRect">
            <a:avLst>
              <a:gd name="adj" fmla="val 5161"/>
            </a:avLst>
          </a:prstGeom>
          <a:noFill xmlns:a="http://schemas.openxmlformats.org/drawingml/2006/main"/>
          <a:ln xmlns:a="http://schemas.openxmlformats.org/drawingml/2006/main" w="12700">
            <a:solidFill>
              <a:srgbClr val="DED6F0"/>
            </a:solidFill>
            <a:prstDash val="solid"/>
          </a:ln>
        </p:spPr>
      </p:sp>
      <p:sp>
        <p:nvSpPr>
          <p:cNvPr id="5" name="Text 3">
            <a:extLst xmlns:a="http://schemas.openxmlformats.org/drawingml/2006/main">
              <a:ext uri="{FF2B5EF4-FFF2-40B4-BE49-F238E27FC236}">
                <a16:creationId xmlns:a16="http://schemas.microsoft.com/office/drawing/2014/main" id="{DBFD1501-B207-D4BC-E58B-A41DBDBD8802}"/>
              </a:ext>
            </a:extLst>
          </p:cNvPr>
          <p:cNvSpPr>
            <a:spLocks xmlns:a="http://schemas.openxmlformats.org/drawingml/2006/main" noGrp="1"/>
          </p:cNvSpPr>
          <p:nvPr/>
        </p:nvSpPr>
        <p:spPr>
          <a:xfrm xmlns:a="http://schemas.openxmlformats.org/drawingml/2006/main">
            <a:off x="914400" y="146304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Duplicate event</a:t>
            </a:r>
            <a:endParaRPr sz="1700"/>
          </a:p>
        </p:txBody>
      </p:sp>
      <p:sp>
        <p:nvSpPr>
          <p:cNvPr id="6" name="Text 4">
            <a:extLst xmlns:a="http://schemas.openxmlformats.org/drawingml/2006/main">
              <a:ext uri="{FF2B5EF4-FFF2-40B4-BE49-F238E27FC236}">
                <a16:creationId xmlns:a16="http://schemas.microsoft.com/office/drawing/2014/main" id="{193E2AD1-210B-BECE-2D01-9C1046ECB803}"/>
              </a:ext>
            </a:extLst>
          </p:cNvPr>
          <p:cNvSpPr>
            <a:spLocks xmlns:a="http://schemas.openxmlformats.org/drawingml/2006/main" noGrp="1"/>
          </p:cNvSpPr>
          <p:nvPr/>
        </p:nvSpPr>
        <p:spPr>
          <a:xfrm xmlns:a="http://schemas.openxmlformats.org/drawingml/2006/main">
            <a:off x="914400" y="182880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92500" lnSpcReduction="20000"/>
          </a:bodyPr>
          <a:lstStyle xmlns:a="http://schemas.openxmlformats.org/drawingml/2006/main"/>
          <a:p xmlns:a="http://schemas.openxmlformats.org/drawingml/2006/main">
            <a:pPr marL="0" indent="0">
              <a:buNone/>
            </a:pPr>
            <a:r>
              <a:rPr sz="1350">
                <a:solidFill>
                  <a:srgbClr val="19142B"/>
                </a:solidFill>
              </a:rPr>
              <a:t>Ignore previously processed webhook events using an</a:t>
            </a:r>
          </a:p>
          <a:p xmlns:a="http://schemas.openxmlformats.org/drawingml/2006/main">
            <a:pPr marL="0" indent="0">
              <a:buNone/>
            </a:pPr>
            <a:r>
              <a:rPr sz="1350">
                <a:solidFill>
                  <a:srgbClr val="19142B"/>
                </a:solidFill>
              </a:rPr>
              <a:t>idempotency key (event ID or composite key).</a:t>
            </a:r>
            <a:endParaRPr sz="1350"/>
          </a:p>
        </p:txBody>
      </p:sp>
      <p:sp>
        <p:nvSpPr>
          <p:cNvPr id="7" name="Text 5">
            <a:extLst xmlns:a="http://schemas.openxmlformats.org/drawingml/2006/main">
              <a:ext uri="{FF2B5EF4-FFF2-40B4-BE49-F238E27FC236}">
                <a16:creationId xmlns:a16="http://schemas.microsoft.com/office/drawing/2014/main" id="{7D74A4D6-7A58-C43A-0274-08C4B49DCE8D}"/>
              </a:ext>
            </a:extLst>
          </p:cNvPr>
          <p:cNvSpPr>
            <a:spLocks xmlns:a="http://schemas.openxmlformats.org/drawingml/2006/main" noGrp="1"/>
          </p:cNvSpPr>
          <p:nvPr/>
        </p:nvSpPr>
        <p:spPr>
          <a:xfrm xmlns:a="http://schemas.openxmlformats.org/drawingml/2006/main">
            <a:off x="914400" y="225856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Recovery owner: Idempotency service</a:t>
            </a:r>
            <a:endParaRPr sz="1250"/>
          </a:p>
        </p:txBody>
      </p:sp>
      <p:sp>
        <p:nvSpPr>
          <p:cNvPr id="8" name="Shape 6">
            <a:extLst xmlns:a="http://schemas.openxmlformats.org/drawingml/2006/main">
              <a:ext uri="{FF2B5EF4-FFF2-40B4-BE49-F238E27FC236}">
                <a16:creationId xmlns:a16="http://schemas.microsoft.com/office/drawing/2014/main" id="{E864C9B6-7A9A-56EB-ACED-1960EA4F15F5}"/>
              </a:ext>
            </a:extLst>
          </p:cNvPr>
          <p:cNvSpPr>
            <a:spLocks xmlns:a="http://schemas.openxmlformats.org/drawingml/2006/main" noGrp="1"/>
          </p:cNvSpPr>
          <p:nvPr/>
        </p:nvSpPr>
        <p:spPr>
          <a:xfrm xmlns:a="http://schemas.openxmlformats.org/drawingml/2006/main">
            <a:off x="6309360" y="1319349"/>
            <a:ext cx="498348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2700">
            <a:solidFill>
              <a:srgbClr val="DED6F0"/>
            </a:solidFill>
            <a:prstDash val="solid"/>
          </a:ln>
        </p:spPr>
      </p:sp>
      <p:sp>
        <p:nvSpPr>
          <p:cNvPr id="9" name="Text 7">
            <a:extLst xmlns:a="http://schemas.openxmlformats.org/drawingml/2006/main">
              <a:ext uri="{FF2B5EF4-FFF2-40B4-BE49-F238E27FC236}">
                <a16:creationId xmlns:a16="http://schemas.microsoft.com/office/drawing/2014/main" id="{F938FDE0-0F4B-BAAF-B781-AB12C0297D95}"/>
              </a:ext>
            </a:extLst>
          </p:cNvPr>
          <p:cNvSpPr>
            <a:spLocks xmlns:a="http://schemas.openxmlformats.org/drawingml/2006/main" noGrp="1"/>
          </p:cNvSpPr>
          <p:nvPr/>
        </p:nvSpPr>
        <p:spPr>
          <a:xfrm xmlns:a="http://schemas.openxmlformats.org/drawingml/2006/main">
            <a:off x="6446520" y="146304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Out-of-order event</a:t>
            </a:r>
            <a:endParaRPr sz="1700"/>
          </a:p>
        </p:txBody>
      </p:sp>
      <p:sp>
        <p:nvSpPr>
          <p:cNvPr id="10" name="Text 8">
            <a:extLst xmlns:a="http://schemas.openxmlformats.org/drawingml/2006/main">
              <a:ext uri="{FF2B5EF4-FFF2-40B4-BE49-F238E27FC236}">
                <a16:creationId xmlns:a16="http://schemas.microsoft.com/office/drawing/2014/main" id="{F0A84CC2-91F1-3B50-E1B5-82C7765663B4}"/>
              </a:ext>
            </a:extLst>
          </p:cNvPr>
          <p:cNvSpPr>
            <a:spLocks xmlns:a="http://schemas.openxmlformats.org/drawingml/2006/main" noGrp="1"/>
          </p:cNvSpPr>
          <p:nvPr/>
        </p:nvSpPr>
        <p:spPr>
          <a:xfrm xmlns:a="http://schemas.openxmlformats.org/drawingml/2006/main">
            <a:off x="6446520" y="182880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92500" lnSpcReduction="20000"/>
          </a:bodyPr>
          <a:lstStyle xmlns:a="http://schemas.openxmlformats.org/drawingml/2006/main"/>
          <a:p xmlns:a="http://schemas.openxmlformats.org/drawingml/2006/main">
            <a:pPr marL="0" indent="0">
              <a:buNone/>
            </a:pPr>
            <a:r>
              <a:rPr sz="1350">
                <a:solidFill>
                  <a:srgbClr val="19142B"/>
                </a:solidFill>
              </a:rPr>
              <a:t>Validate timestamps/versions and fetch the latest provider state </a:t>
            </a:r>
          </a:p>
          <a:p xmlns:a="http://schemas.openxmlformats.org/drawingml/2006/main">
            <a:pPr marL="0" indent="0">
              <a:buNone/>
            </a:pPr>
            <a:r>
              <a:rPr sz="1350">
                <a:solidFill>
                  <a:srgbClr val="19142B"/>
                </a:solidFill>
              </a:rPr>
              <a:t>before applying updates.</a:t>
            </a:r>
            <a:endParaRPr sz="1350"/>
          </a:p>
        </p:txBody>
      </p:sp>
      <p:sp>
        <p:nvSpPr>
          <p:cNvPr id="11" name="Text 9">
            <a:extLst xmlns:a="http://schemas.openxmlformats.org/drawingml/2006/main">
              <a:ext uri="{FF2B5EF4-FFF2-40B4-BE49-F238E27FC236}">
                <a16:creationId xmlns:a16="http://schemas.microsoft.com/office/drawing/2014/main" id="{9ED17C8B-BC06-5A31-B4ED-1B8E6B537815}"/>
              </a:ext>
            </a:extLst>
          </p:cNvPr>
          <p:cNvSpPr>
            <a:spLocks xmlns:a="http://schemas.openxmlformats.org/drawingml/2006/main" noGrp="1"/>
          </p:cNvSpPr>
          <p:nvPr/>
        </p:nvSpPr>
        <p:spPr>
          <a:xfrm xmlns:a="http://schemas.openxmlformats.org/drawingml/2006/main">
            <a:off x="6446520" y="225856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Recovery owner: Event processor</a:t>
            </a:r>
            <a:endParaRPr sz="1250"/>
          </a:p>
        </p:txBody>
      </p:sp>
      <p:sp>
        <p:nvSpPr>
          <p:cNvPr id="12" name="Shape 10">
            <a:extLst xmlns:a="http://schemas.openxmlformats.org/drawingml/2006/main">
              <a:ext uri="{FF2B5EF4-FFF2-40B4-BE49-F238E27FC236}">
                <a16:creationId xmlns:a16="http://schemas.microsoft.com/office/drawing/2014/main" id="{01A1E17F-6075-6CBC-8798-CD4606225A86}"/>
              </a:ext>
            </a:extLst>
          </p:cNvPr>
          <p:cNvSpPr>
            <a:spLocks xmlns:a="http://schemas.openxmlformats.org/drawingml/2006/main" noGrp="1"/>
          </p:cNvSpPr>
          <p:nvPr/>
        </p:nvSpPr>
        <p:spPr>
          <a:xfrm xmlns:a="http://schemas.openxmlformats.org/drawingml/2006/main">
            <a:off x="731520" y="3200400"/>
            <a:ext cx="4983480" cy="1417320"/>
          </a:xfrm>
          <a:prstGeom xmlns:a="http://schemas.openxmlformats.org/drawingml/2006/main" prst="roundRect">
            <a:avLst>
              <a:gd name="adj" fmla="val 5161"/>
            </a:avLst>
          </a:prstGeom>
          <a:noFill xmlns:a="http://schemas.openxmlformats.org/drawingml/2006/main"/>
          <a:ln xmlns:a="http://schemas.openxmlformats.org/drawingml/2006/main" w="12700">
            <a:solidFill>
              <a:srgbClr val="DED6F0"/>
            </a:solidFill>
            <a:prstDash val="solid"/>
          </a:ln>
        </p:spPr>
      </p:sp>
      <p:sp>
        <p:nvSpPr>
          <p:cNvPr id="13" name="Text 11">
            <a:extLst xmlns:a="http://schemas.openxmlformats.org/drawingml/2006/main">
              <a:ext uri="{FF2B5EF4-FFF2-40B4-BE49-F238E27FC236}">
                <a16:creationId xmlns:a16="http://schemas.microsoft.com/office/drawing/2014/main" id="{AA4AC1AE-4932-D609-29E5-65B9AD66F320}"/>
              </a:ext>
            </a:extLst>
          </p:cNvPr>
          <p:cNvSpPr>
            <a:spLocks xmlns:a="http://schemas.openxmlformats.org/drawingml/2006/main" noGrp="1"/>
          </p:cNvSpPr>
          <p:nvPr/>
        </p:nvSpPr>
        <p:spPr>
          <a:xfrm xmlns:a="http://schemas.openxmlformats.org/drawingml/2006/main">
            <a:off x="914400" y="333756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Missed event</a:t>
            </a:r>
            <a:endParaRPr sz="1700"/>
          </a:p>
        </p:txBody>
      </p:sp>
      <p:sp>
        <p:nvSpPr>
          <p:cNvPr id="14" name="Text 12">
            <a:extLst xmlns:a="http://schemas.openxmlformats.org/drawingml/2006/main">
              <a:ext uri="{FF2B5EF4-FFF2-40B4-BE49-F238E27FC236}">
                <a16:creationId xmlns:a16="http://schemas.microsoft.com/office/drawing/2014/main" id="{1EF41D0D-3078-31A0-AE4F-B1EB550BB052}"/>
              </a:ext>
            </a:extLst>
          </p:cNvPr>
          <p:cNvSpPr>
            <a:spLocks xmlns:a="http://schemas.openxmlformats.org/drawingml/2006/main" noGrp="1"/>
          </p:cNvSpPr>
          <p:nvPr/>
        </p:nvSpPr>
        <p:spPr>
          <a:xfrm xmlns:a="http://schemas.openxmlformats.org/drawingml/2006/main">
            <a:off x="914400" y="370332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92500" lnSpcReduction="20000"/>
          </a:bodyPr>
          <a:lstStyle xmlns:a="http://schemas.openxmlformats.org/drawingml/2006/main"/>
          <a:p xmlns:a="http://schemas.openxmlformats.org/drawingml/2006/main">
            <a:pPr marL="0" indent="0">
              <a:buNone/>
            </a:pPr>
            <a:r>
              <a:rPr sz="1350">
                <a:solidFill>
                  <a:srgbClr val="19142B"/>
                </a:solidFill>
              </a:rPr>
              <a:t>Periodic reconciliation compares active onboarding records against</a:t>
            </a:r>
          </a:p>
          <a:p xmlns:a="http://schemas.openxmlformats.org/drawingml/2006/main">
            <a:pPr marL="0" indent="0">
              <a:buNone/>
            </a:pPr>
            <a:r>
              <a:rPr sz="1350">
                <a:solidFill>
                  <a:srgbClr val="19142B"/>
                </a:solidFill>
              </a:rPr>
              <a:t>the provider and backfills missing changes.</a:t>
            </a:r>
            <a:endParaRPr sz="1350"/>
          </a:p>
        </p:txBody>
      </p:sp>
      <p:sp>
        <p:nvSpPr>
          <p:cNvPr id="15" name="Text 13">
            <a:extLst xmlns:a="http://schemas.openxmlformats.org/drawingml/2006/main">
              <a:ext uri="{FF2B5EF4-FFF2-40B4-BE49-F238E27FC236}">
                <a16:creationId xmlns:a16="http://schemas.microsoft.com/office/drawing/2014/main" id="{5690A837-AB90-1E2D-277F-AD11D2449777}"/>
              </a:ext>
            </a:extLst>
          </p:cNvPr>
          <p:cNvSpPr>
            <a:spLocks xmlns:a="http://schemas.openxmlformats.org/drawingml/2006/main" noGrp="1"/>
          </p:cNvSpPr>
          <p:nvPr/>
        </p:nvSpPr>
        <p:spPr>
          <a:xfrm xmlns:a="http://schemas.openxmlformats.org/drawingml/2006/main">
            <a:off x="914400" y="413308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250" b="1">
                <a:solidFill>
                  <a:srgbClr val="5E5872"/>
                </a:solidFill>
              </a:rPr>
              <a:t>Recovery owner: Reconciliation worker</a:t>
            </a:r>
            <a:endParaRPr sz="1250"/>
          </a:p>
        </p:txBody>
      </p:sp>
      <p:sp>
        <p:nvSpPr>
          <p:cNvPr id="16" name="Shape 14">
            <a:extLst xmlns:a="http://schemas.openxmlformats.org/drawingml/2006/main">
              <a:ext uri="{FF2B5EF4-FFF2-40B4-BE49-F238E27FC236}">
                <a16:creationId xmlns:a16="http://schemas.microsoft.com/office/drawing/2014/main" id="{F7D8440A-2C01-51CE-E2AC-D26F8C6BF618}"/>
              </a:ext>
            </a:extLst>
          </p:cNvPr>
          <p:cNvSpPr>
            <a:spLocks xmlns:a="http://schemas.openxmlformats.org/drawingml/2006/main" noGrp="1"/>
          </p:cNvSpPr>
          <p:nvPr/>
        </p:nvSpPr>
        <p:spPr>
          <a:xfrm xmlns:a="http://schemas.openxmlformats.org/drawingml/2006/main">
            <a:off x="6263640" y="3200400"/>
            <a:ext cx="498348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2700">
            <a:solidFill>
              <a:srgbClr val="DED6F0"/>
            </a:solidFill>
            <a:prstDash val="solid"/>
          </a:ln>
        </p:spPr>
      </p:sp>
      <p:sp>
        <p:nvSpPr>
          <p:cNvPr id="17" name="Text 15">
            <a:extLst xmlns:a="http://schemas.openxmlformats.org/drawingml/2006/main">
              <a:ext uri="{FF2B5EF4-FFF2-40B4-BE49-F238E27FC236}">
                <a16:creationId xmlns:a16="http://schemas.microsoft.com/office/drawing/2014/main" id="{1ACE3AD6-CA00-288C-E5A7-DEA57BCD29B5}"/>
              </a:ext>
            </a:extLst>
          </p:cNvPr>
          <p:cNvSpPr>
            <a:spLocks xmlns:a="http://schemas.openxmlformats.org/drawingml/2006/main" noGrp="1"/>
          </p:cNvSpPr>
          <p:nvPr/>
        </p:nvSpPr>
        <p:spPr>
          <a:xfrm xmlns:a="http://schemas.openxmlformats.org/drawingml/2006/main">
            <a:off x="6446520" y="3337560"/>
            <a:ext cx="3474720" cy="256032"/>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700" b="1">
                <a:solidFill>
                  <a:srgbClr val="5E36D7"/>
                </a:solidFill>
              </a:rPr>
              <a:t>Bad payload / unknown mapping</a:t>
            </a:r>
            <a:endParaRPr sz="1700">
              <a:solidFill>
                <a:srgbClr val="5E36D7"/>
              </a:solidFill>
            </a:endParaRPr>
          </a:p>
        </p:txBody>
      </p:sp>
      <p:sp>
        <p:nvSpPr>
          <p:cNvPr id="18" name="Text 16">
            <a:extLst xmlns:a="http://schemas.openxmlformats.org/drawingml/2006/main">
              <a:ext uri="{FF2B5EF4-FFF2-40B4-BE49-F238E27FC236}">
                <a16:creationId xmlns:a16="http://schemas.microsoft.com/office/drawing/2014/main" id="{91F24401-9984-0EFC-7B4E-F06227AAAB4B}"/>
              </a:ext>
            </a:extLst>
          </p:cNvPr>
          <p:cNvSpPr>
            <a:spLocks xmlns:a="http://schemas.openxmlformats.org/drawingml/2006/main" noGrp="1"/>
          </p:cNvSpPr>
          <p:nvPr/>
        </p:nvSpPr>
        <p:spPr>
          <a:xfrm xmlns:a="http://schemas.openxmlformats.org/drawingml/2006/main">
            <a:off x="6446520" y="3703320"/>
            <a:ext cx="4480560" cy="32004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92500" lnSpcReduction="20000"/>
          </a:bodyPr>
          <a:lstStyle xmlns:a="http://schemas.openxmlformats.org/drawingml/2006/main"/>
          <a:p xmlns:a="http://schemas.openxmlformats.org/drawingml/2006/main">
            <a:pPr marL="0" indent="0">
              <a:buNone/>
            </a:pPr>
            <a:r>
              <a:rPr sz="1350">
                <a:solidFill>
                  <a:srgbClr val="19142B"/>
                </a:solidFill>
              </a:rPr>
              <a:t>Route failed events to the DLQ, alert operations, and replay after</a:t>
            </a:r>
          </a:p>
          <a:p xmlns:a="http://schemas.openxmlformats.org/drawingml/2006/main">
            <a:pPr marL="0" indent="0">
              <a:buNone/>
            </a:pPr>
            <a:r>
              <a:rPr sz="1350">
                <a:solidFill>
                  <a:srgbClr val="19142B"/>
                </a:solidFill>
              </a:rPr>
              <a:t>mapping correction.</a:t>
            </a:r>
            <a:endParaRPr sz="1350"/>
          </a:p>
        </p:txBody>
      </p:sp>
      <p:sp>
        <p:nvSpPr>
          <p:cNvPr id="19" name="Text 17">
            <a:extLst xmlns:a="http://schemas.openxmlformats.org/drawingml/2006/main">
              <a:ext uri="{FF2B5EF4-FFF2-40B4-BE49-F238E27FC236}">
                <a16:creationId xmlns:a16="http://schemas.microsoft.com/office/drawing/2014/main" id="{FC0FDD0C-7CA0-2756-F2AD-9519847F432B}"/>
              </a:ext>
            </a:extLst>
          </p:cNvPr>
          <p:cNvSpPr>
            <a:spLocks xmlns:a="http://schemas.openxmlformats.org/drawingml/2006/main" noGrp="1"/>
          </p:cNvSpPr>
          <p:nvPr/>
        </p:nvSpPr>
        <p:spPr>
          <a:xfrm xmlns:a="http://schemas.openxmlformats.org/drawingml/2006/main">
            <a:off x="6446520" y="4133088"/>
            <a:ext cx="4480560" cy="228600"/>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a:bodyPr>
          <a:lstStyle xmlns:a="http://schemas.openxmlformats.org/drawingml/2006/main"/>
          <a:p xmlns:a="http://schemas.openxmlformats.org/drawingml/2006/main">
            <a:pPr marL="0" indent="0">
              <a:buNone/>
            </a:pPr>
            <a:r>
              <a:rPr sz="1250" b="1">
                <a:solidFill>
                  <a:srgbClr val="5E5872"/>
                </a:solidFill>
              </a:rPr>
              <a:t>Recovery owner: Operations / DLQ replay</a:t>
            </a:r>
            <a:endParaRPr sz="1250"/>
          </a:p>
        </p:txBody>
      </p:sp>
      <p:sp>
        <p:nvSpPr>
          <p:cNvPr id="20" name="Text 18">
            <a:extLst xmlns:a="http://schemas.openxmlformats.org/drawingml/2006/main">
              <a:ext uri="{FF2B5EF4-FFF2-40B4-BE49-F238E27FC236}">
                <a16:creationId xmlns:a16="http://schemas.microsoft.com/office/drawing/2014/main" id="{54CD4705-32BA-5D2C-1750-59AD628C7B7D}"/>
              </a:ext>
            </a:extLst>
          </p:cNvPr>
          <p:cNvSpPr>
            <a:spLocks xmlns:a="http://schemas.openxmlformats.org/drawingml/2006/main" noGrp="1"/>
          </p:cNvSpPr>
          <p:nvPr/>
        </p:nvSpPr>
        <p:spPr>
          <a:xfrm xmlns:a="http://schemas.openxmlformats.org/drawingml/2006/main">
            <a:off x="960120" y="5232903"/>
            <a:ext cx="10149840" cy="597529"/>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9142B"/>
                </a:solidFill>
              </a:rPr>
              <a:t>Treat webhooks as change notifications, not the source of truth. Provider APIs remain authoritative for current state.</a:t>
            </a:r>
            <a:endParaRPr sz="2200"/>
          </a:p>
        </p:txBody>
      </p:sp>
      <p:sp>
        <p:nvSpPr>
          <p:cNvPr id="25" name="Slide Number Placeholder 0">
            <a:extLst xmlns:a="http://schemas.openxmlformats.org/drawingml/2006/main">
              <a:ext uri="{FF2B5EF4-FFF2-40B4-BE49-F238E27FC236}">
                <a16:creationId xmlns:a16="http://schemas.microsoft.com/office/drawing/2014/main" id="{F38A4758-3D62-0E3F-7A35-3D945F5D2214}"/>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11</a:t>
            </a:fld>
            <a:endParaRPr/>
          </a:p>
        </p:txBody>
      </p:sp>
    </p:spTree>
    <p:extLst>
      <p:ext uri="{BB962C8B-B14F-4D97-AF65-F5344CB8AC3E}">
        <p14:creationId xmlns:p14="http://schemas.microsoft.com/office/powerpoint/2010/main" val="237191104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6" name="Picture 2"/>
          <p:cNvPicPr>
            <a:picLocks xmlns:a="http://schemas.openxmlformats.org/drawingml/2006/main" noChangeAspect="1"/>
          </p:cNvPicPr>
          <p:nvPr/>
        </p:nvPicPr>
        <p:blipFill>
          <a:blip xmlns:r="http://schemas.openxmlformats.org/officeDocument/2006/relationships" xmlns:a="http://schemas.openxmlformats.org/drawingml/2006/main" r:embed="R426902e15b4041ae"/>
          <a:stretch xmlns:a="http://schemas.openxmlformats.org/drawingml/2006/main">
            <a:fillRect l="0" t="0" r="0" b="0"/>
          </a:stretch>
        </p:blipFill>
        <p:spPr>
          <a:xfrm xmlns:a="http://schemas.openxmlformats.org/drawingml/2006/main">
            <a:off x="622998" y="95222"/>
            <a:ext cx="10613153" cy="6255336"/>
          </a:xfrm>
          <a:prstGeom xmlns:a="http://schemas.openxmlformats.org/drawingml/2006/main" prst="rect">
            <a:avLst/>
          </a:prstGeom>
        </p:spPr>
      </p:pic>
      <p:sp>
        <p:nvSpPr>
          <p:cNvPr id="4" name="Slide Number Placeholder 0">
            <a:extLst xmlns:a="http://schemas.openxmlformats.org/drawingml/2006/main">
              <a:ext uri="{FF2B5EF4-FFF2-40B4-BE49-F238E27FC236}">
                <a16:creationId xmlns:a16="http://schemas.microsoft.com/office/drawing/2014/main" id="{E7A74202-F5AB-785A-774B-A25A4E7FCC2F}"/>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12</a:t>
            </a:fld>
            <a:endParaRPr/>
          </a:p>
        </p:txBody>
      </p:sp>
    </p:spTree>
    <p:extLst>
      <p:ext uri="{BB962C8B-B14F-4D97-AF65-F5344CB8AC3E}">
        <p14:creationId xmlns:p14="http://schemas.microsoft.com/office/powerpoint/2010/main" val="420194791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0">
            <a:extLst xmlns:a="http://schemas.openxmlformats.org/drawingml/2006/main">
              <a:ext uri="{FF2B5EF4-FFF2-40B4-BE49-F238E27FC236}">
                <a16:creationId xmlns:a16="http://schemas.microsoft.com/office/drawing/2014/main" id="{D95CF742-EC9B-0268-5FD6-E84D6AB35B5C}"/>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13</a:t>
            </a:fld>
            <a:endParaRPr/>
          </a:p>
        </p:txBody>
      </p:sp>
      <p:pic>
        <p:nvPicPr>
          <p:cNvPr id="7" name="Picture 5"/>
          <p:cNvPicPr>
            <a:picLocks xmlns:a="http://schemas.openxmlformats.org/drawingml/2006/main" noChangeAspect="1"/>
          </p:cNvPicPr>
          <p:nvPr/>
        </p:nvPicPr>
        <p:blipFill>
          <a:blip xmlns:r="http://schemas.openxmlformats.org/officeDocument/2006/relationships" xmlns:a="http://schemas.openxmlformats.org/drawingml/2006/main" r:embed="Rb633102a7f704ff0"/>
          <a:stretch xmlns:a="http://schemas.openxmlformats.org/drawingml/2006/main">
            <a:fillRect l="0" t="0" r="0" b="0"/>
          </a:stretch>
        </p:blipFill>
        <p:spPr>
          <a:xfrm xmlns:a="http://schemas.openxmlformats.org/drawingml/2006/main">
            <a:off x="955848" y="170822"/>
            <a:ext cx="10280303" cy="6367138"/>
          </a:xfrm>
          <a:prstGeom xmlns:a="http://schemas.openxmlformats.org/drawingml/2006/main" prst="rect">
            <a:avLst/>
          </a:prstGeom>
        </p:spPr>
      </p:pic>
    </p:spTree>
    <p:extLst>
      <p:ext uri="{BB962C8B-B14F-4D97-AF65-F5344CB8AC3E}">
        <p14:creationId xmlns:p14="http://schemas.microsoft.com/office/powerpoint/2010/main" val="89150711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3B4480-4FE4-4B89-BA4B-B4DA327488A8}"/>
              </a:ext>
            </a:extLst>
          </p:cNvPr>
          <p:cNvSpPr>
            <a:spLocks xmlns:a="http://schemas.openxmlformats.org/drawingml/2006/main" noGrp="1"/>
          </p:cNvSpPr>
          <p:nvPr/>
        </p:nvSpPr>
        <p:spPr>
          <a:xfrm xmlns:a="http://schemas.openxmlformats.org/drawingml/2006/main">
            <a:off x="548640" y="347472"/>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13F"/>
                </a:solidFill>
                <a:latin typeface="Aptos Display"/>
                <a:ea typeface="Aptos Display"/>
                <a:cs typeface="Aptos Display"/>
              </a:rPr>
              <a:t>Bidirectional Synchronization Considerations</a:t>
            </a:r>
            <a:endParaRPr sz="3000">
              <a:solidFill>
                <a:srgbClr val="11113F"/>
              </a:solidFill>
            </a:endParaRPr>
          </a:p>
        </p:txBody>
      </p:sp>
      <p:sp>
        <p:nvSpPr>
          <p:cNvPr id="3" name="Text 1">
            <a:extLst xmlns:a="http://schemas.openxmlformats.org/drawingml/2006/main">
              <a:ext uri="{FF2B5EF4-FFF2-40B4-BE49-F238E27FC236}">
                <a16:creationId xmlns:a16="http://schemas.microsoft.com/office/drawing/2014/main" id="{17982B45-3A34-4037-956F-ABB6C2C45946}"/>
              </a:ext>
            </a:extLst>
          </p:cNvPr>
          <p:cNvSpPr>
            <a:spLocks xmlns:a="http://schemas.openxmlformats.org/drawingml/2006/main" noGrp="1"/>
          </p:cNvSpPr>
          <p:nvPr/>
        </p:nvSpPr>
        <p:spPr>
          <a:xfrm xmlns:a="http://schemas.openxmlformats.org/drawingml/2006/main">
            <a:off x="566928" y="804672"/>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E5872"/>
                </a:solidFill>
              </a:rPr>
              <a:t>Avoid infinite loops, stale UX, and conflicting state transitions.</a:t>
            </a:r>
            <a:endParaRPr sz="1300"/>
          </a:p>
        </p:txBody>
      </p:sp>
      <p:sp>
        <p:nvSpPr>
          <p:cNvPr id="4" name="Shape 2">
            <a:extLst xmlns:a="http://schemas.openxmlformats.org/drawingml/2006/main">
              <a:ext uri="{FF2B5EF4-FFF2-40B4-BE49-F238E27FC236}">
                <a16:creationId xmlns:a16="http://schemas.microsoft.com/office/drawing/2014/main" id="{D4252D6A-AFE7-4094-90D7-7E7DFDEF05BB}"/>
              </a:ext>
            </a:extLst>
          </p:cNvPr>
          <p:cNvSpPr>
            <a:spLocks xmlns:a="http://schemas.openxmlformats.org/drawingml/2006/main" noGrp="1"/>
          </p:cNvSpPr>
          <p:nvPr/>
        </p:nvSpPr>
        <p:spPr>
          <a:xfrm xmlns:a="http://schemas.openxmlformats.org/drawingml/2006/main">
            <a:off x="731520" y="1234440"/>
            <a:ext cx="2926080" cy="566928"/>
          </a:xfrm>
          <a:prstGeom xmlns:a="http://schemas.openxmlformats.org/drawingml/2006/main" prst="rect">
            <a:avLst/>
          </a:prstGeom>
          <a:solidFill xmlns:a="http://schemas.openxmlformats.org/drawingml/2006/main">
            <a:srgbClr val="5E36D7"/>
          </a:solidFill>
          <a:ln xmlns:a="http://schemas.openxmlformats.org/drawingml/2006/main" w="7620">
            <a:solidFill>
              <a:srgbClr val="E3DDF2"/>
            </a:solidFill>
            <a:prstDash val="solid"/>
          </a:ln>
        </p:spPr>
      </p:sp>
      <p:sp>
        <p:nvSpPr>
          <p:cNvPr id="5" name="Text 3">
            <a:extLst xmlns:a="http://schemas.openxmlformats.org/drawingml/2006/main">
              <a:ext uri="{FF2B5EF4-FFF2-40B4-BE49-F238E27FC236}">
                <a16:creationId xmlns:a16="http://schemas.microsoft.com/office/drawing/2014/main" id="{A798025C-6AAC-4E5E-A16D-B7CF476C28AB}"/>
              </a:ext>
            </a:extLst>
          </p:cNvPr>
          <p:cNvSpPr>
            <a:spLocks xmlns:a="http://schemas.openxmlformats.org/drawingml/2006/main" noGrp="1"/>
          </p:cNvSpPr>
          <p:nvPr/>
        </p:nvSpPr>
        <p:spPr>
          <a:xfrm xmlns:a="http://schemas.openxmlformats.org/drawingml/2006/main">
            <a:off x="795528" y="1307592"/>
            <a:ext cx="2798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300" b="1">
                <a:solidFill>
                  <a:srgbClr val="FFFFFF"/>
                </a:solidFill>
              </a:rPr>
              <a:t>Risk</a:t>
            </a:r>
            <a:endParaRPr sz="1300"/>
          </a:p>
        </p:txBody>
      </p:sp>
      <p:sp>
        <p:nvSpPr>
          <p:cNvPr id="6" name="Shape 4">
            <a:extLst xmlns:a="http://schemas.openxmlformats.org/drawingml/2006/main">
              <a:ext uri="{FF2B5EF4-FFF2-40B4-BE49-F238E27FC236}">
                <a16:creationId xmlns:a16="http://schemas.microsoft.com/office/drawing/2014/main" id="{9067ACFD-BBC9-4DC0-975D-ED69088DC098}"/>
              </a:ext>
            </a:extLst>
          </p:cNvPr>
          <p:cNvSpPr>
            <a:spLocks xmlns:a="http://schemas.openxmlformats.org/drawingml/2006/main" noGrp="1"/>
          </p:cNvSpPr>
          <p:nvPr/>
        </p:nvSpPr>
        <p:spPr>
          <a:xfrm xmlns:a="http://schemas.openxmlformats.org/drawingml/2006/main">
            <a:off x="3657600" y="1234440"/>
            <a:ext cx="7498080" cy="566928"/>
          </a:xfrm>
          <a:prstGeom xmlns:a="http://schemas.openxmlformats.org/drawingml/2006/main" prst="rect">
            <a:avLst/>
          </a:prstGeom>
          <a:solidFill xmlns:a="http://schemas.openxmlformats.org/drawingml/2006/main">
            <a:srgbClr val="5E36D7"/>
          </a:solidFill>
          <a:ln xmlns:a="http://schemas.openxmlformats.org/drawingml/2006/main" w="7620">
            <a:solidFill>
              <a:srgbClr val="E3DDF2"/>
            </a:solidFill>
            <a:prstDash val="solid"/>
          </a:ln>
        </p:spPr>
      </p:sp>
      <p:sp>
        <p:nvSpPr>
          <p:cNvPr id="7" name="Text 5">
            <a:extLst xmlns:a="http://schemas.openxmlformats.org/drawingml/2006/main">
              <a:ext uri="{FF2B5EF4-FFF2-40B4-BE49-F238E27FC236}">
                <a16:creationId xmlns:a16="http://schemas.microsoft.com/office/drawing/2014/main" id="{F8D727BC-1955-4C14-A1F3-92A0DD886331}"/>
              </a:ext>
            </a:extLst>
          </p:cNvPr>
          <p:cNvSpPr>
            <a:spLocks xmlns:a="http://schemas.openxmlformats.org/drawingml/2006/main" noGrp="1"/>
          </p:cNvSpPr>
          <p:nvPr/>
        </p:nvSpPr>
        <p:spPr>
          <a:xfrm xmlns:a="http://schemas.openxmlformats.org/drawingml/2006/main">
            <a:off x="3721608" y="1307592"/>
            <a:ext cx="7370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300" b="1">
                <a:solidFill>
                  <a:srgbClr val="FFFFFF"/>
                </a:solidFill>
              </a:rPr>
              <a:t>Mitigation</a:t>
            </a:r>
            <a:endParaRPr sz="1300"/>
          </a:p>
        </p:txBody>
      </p:sp>
      <p:sp>
        <p:nvSpPr>
          <p:cNvPr id="8" name="Shape 6">
            <a:extLst xmlns:a="http://schemas.openxmlformats.org/drawingml/2006/main">
              <a:ext uri="{FF2B5EF4-FFF2-40B4-BE49-F238E27FC236}">
                <a16:creationId xmlns:a16="http://schemas.microsoft.com/office/drawing/2014/main" id="{0032DFF5-AE6A-4D60-823C-10D2E93DFFFC}"/>
              </a:ext>
            </a:extLst>
          </p:cNvPr>
          <p:cNvSpPr>
            <a:spLocks xmlns:a="http://schemas.openxmlformats.org/drawingml/2006/main" noGrp="1"/>
          </p:cNvSpPr>
          <p:nvPr/>
        </p:nvSpPr>
        <p:spPr>
          <a:xfrm xmlns:a="http://schemas.openxmlformats.org/drawingml/2006/main">
            <a:off x="731520" y="1801368"/>
            <a:ext cx="2926080" cy="566928"/>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9" name="Text 7">
            <a:extLst xmlns:a="http://schemas.openxmlformats.org/drawingml/2006/main">
              <a:ext uri="{FF2B5EF4-FFF2-40B4-BE49-F238E27FC236}">
                <a16:creationId xmlns:a16="http://schemas.microsoft.com/office/drawing/2014/main" id="{D8B38DAB-3206-4615-8211-252D2732BAC6}"/>
              </a:ext>
            </a:extLst>
          </p:cNvPr>
          <p:cNvSpPr>
            <a:spLocks xmlns:a="http://schemas.openxmlformats.org/drawingml/2006/main" noGrp="1"/>
          </p:cNvSpPr>
          <p:nvPr/>
        </p:nvSpPr>
        <p:spPr>
          <a:xfrm xmlns:a="http://schemas.openxmlformats.org/drawingml/2006/main">
            <a:off x="795528" y="1874520"/>
            <a:ext cx="2798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80">
                <a:solidFill>
                  <a:srgbClr val="19142B"/>
                </a:solidFill>
              </a:rPr>
              <a:t>Infinite update loop</a:t>
            </a:r>
            <a:endParaRPr sz="1280"/>
          </a:p>
        </p:txBody>
      </p:sp>
      <p:sp>
        <p:nvSpPr>
          <p:cNvPr id="10" name="Shape 8">
            <a:extLst xmlns:a="http://schemas.openxmlformats.org/drawingml/2006/main">
              <a:ext uri="{FF2B5EF4-FFF2-40B4-BE49-F238E27FC236}">
                <a16:creationId xmlns:a16="http://schemas.microsoft.com/office/drawing/2014/main" id="{919CBA98-10CB-4659-9BCC-60F6A7AE59B7}"/>
              </a:ext>
            </a:extLst>
          </p:cNvPr>
          <p:cNvSpPr>
            <a:spLocks xmlns:a="http://schemas.openxmlformats.org/drawingml/2006/main" noGrp="1"/>
          </p:cNvSpPr>
          <p:nvPr/>
        </p:nvSpPr>
        <p:spPr>
          <a:xfrm xmlns:a="http://schemas.openxmlformats.org/drawingml/2006/main">
            <a:off x="3657600" y="1801368"/>
            <a:ext cx="7498080" cy="566928"/>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11" name="Text 9">
            <a:extLst xmlns:a="http://schemas.openxmlformats.org/drawingml/2006/main">
              <a:ext uri="{FF2B5EF4-FFF2-40B4-BE49-F238E27FC236}">
                <a16:creationId xmlns:a16="http://schemas.microsoft.com/office/drawing/2014/main" id="{70F7AC3E-C99A-45AC-AABE-5FDFFB75F349}"/>
              </a:ext>
            </a:extLst>
          </p:cNvPr>
          <p:cNvSpPr>
            <a:spLocks xmlns:a="http://schemas.openxmlformats.org/drawingml/2006/main" noGrp="1"/>
          </p:cNvSpPr>
          <p:nvPr/>
        </p:nvSpPr>
        <p:spPr>
          <a:xfrm xmlns:a="http://schemas.openxmlformats.org/drawingml/2006/main">
            <a:off x="3721608" y="1874520"/>
            <a:ext cx="7370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80">
                <a:solidFill>
                  <a:srgbClr val="19142B"/>
                </a:solidFill>
              </a:rPr>
              <a:t>Origin metadata + correlation IDs + no-op detection before outbound writes.</a:t>
            </a:r>
            <a:endParaRPr sz="1280"/>
          </a:p>
        </p:txBody>
      </p:sp>
      <p:sp>
        <p:nvSpPr>
          <p:cNvPr id="12" name="Shape 10">
            <a:extLst xmlns:a="http://schemas.openxmlformats.org/drawingml/2006/main">
              <a:ext uri="{FF2B5EF4-FFF2-40B4-BE49-F238E27FC236}">
                <a16:creationId xmlns:a16="http://schemas.microsoft.com/office/drawing/2014/main" id="{5E4C3407-B9CC-474C-A726-EBAD34D5487D}"/>
              </a:ext>
            </a:extLst>
          </p:cNvPr>
          <p:cNvSpPr>
            <a:spLocks xmlns:a="http://schemas.openxmlformats.org/drawingml/2006/main" noGrp="1"/>
          </p:cNvSpPr>
          <p:nvPr/>
        </p:nvSpPr>
        <p:spPr>
          <a:xfrm xmlns:a="http://schemas.openxmlformats.org/drawingml/2006/main">
            <a:off x="731520" y="2368296"/>
            <a:ext cx="2926080" cy="566928"/>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13" name="Text 11">
            <a:extLst xmlns:a="http://schemas.openxmlformats.org/drawingml/2006/main">
              <a:ext uri="{FF2B5EF4-FFF2-40B4-BE49-F238E27FC236}">
                <a16:creationId xmlns:a16="http://schemas.microsoft.com/office/drawing/2014/main" id="{B3775F5E-71D5-45DF-ABB7-BC852B0795BD}"/>
              </a:ext>
            </a:extLst>
          </p:cNvPr>
          <p:cNvSpPr>
            <a:spLocks xmlns:a="http://schemas.openxmlformats.org/drawingml/2006/main" noGrp="1"/>
          </p:cNvSpPr>
          <p:nvPr/>
        </p:nvSpPr>
        <p:spPr>
          <a:xfrm xmlns:a="http://schemas.openxmlformats.org/drawingml/2006/main">
            <a:off x="795528" y="2441448"/>
            <a:ext cx="2798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80">
                <a:solidFill>
                  <a:srgbClr val="19142B"/>
                </a:solidFill>
              </a:rPr>
              <a:t>Concurrent edits</a:t>
            </a:r>
            <a:endParaRPr sz="1280"/>
          </a:p>
        </p:txBody>
      </p:sp>
      <p:sp>
        <p:nvSpPr>
          <p:cNvPr id="14" name="Shape 12">
            <a:extLst xmlns:a="http://schemas.openxmlformats.org/drawingml/2006/main">
              <a:ext uri="{FF2B5EF4-FFF2-40B4-BE49-F238E27FC236}">
                <a16:creationId xmlns:a16="http://schemas.microsoft.com/office/drawing/2014/main" id="{E2608ED6-89DF-4742-86DD-36BC14123694}"/>
              </a:ext>
            </a:extLst>
          </p:cNvPr>
          <p:cNvSpPr>
            <a:spLocks xmlns:a="http://schemas.openxmlformats.org/drawingml/2006/main" noGrp="1"/>
          </p:cNvSpPr>
          <p:nvPr/>
        </p:nvSpPr>
        <p:spPr>
          <a:xfrm xmlns:a="http://schemas.openxmlformats.org/drawingml/2006/main">
            <a:off x="3657600" y="2368296"/>
            <a:ext cx="7498080" cy="566928"/>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15" name="Text 13">
            <a:extLst xmlns:a="http://schemas.openxmlformats.org/drawingml/2006/main">
              <a:ext uri="{FF2B5EF4-FFF2-40B4-BE49-F238E27FC236}">
                <a16:creationId xmlns:a16="http://schemas.microsoft.com/office/drawing/2014/main" id="{53A60C2B-C944-49A6-B8FC-D079327ADA90}"/>
              </a:ext>
            </a:extLst>
          </p:cNvPr>
          <p:cNvSpPr>
            <a:spLocks xmlns:a="http://schemas.openxmlformats.org/drawingml/2006/main" noGrp="1"/>
          </p:cNvSpPr>
          <p:nvPr/>
        </p:nvSpPr>
        <p:spPr>
          <a:xfrm xmlns:a="http://schemas.openxmlformats.org/drawingml/2006/main">
            <a:off x="3721608" y="2441448"/>
            <a:ext cx="7370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280">
                <a:solidFill>
                  <a:srgbClr val="19142B"/>
                </a:solidFill>
              </a:rPr>
              <a:t>Use field ownership and approved conflict rules. Escalate unresolved conflicts.</a:t>
            </a:r>
            <a:endParaRPr sz="1280"/>
          </a:p>
        </p:txBody>
      </p:sp>
      <p:sp>
        <p:nvSpPr>
          <p:cNvPr id="16" name="Shape 14">
            <a:extLst xmlns:a="http://schemas.openxmlformats.org/drawingml/2006/main">
              <a:ext uri="{FF2B5EF4-FFF2-40B4-BE49-F238E27FC236}">
                <a16:creationId xmlns:a16="http://schemas.microsoft.com/office/drawing/2014/main" id="{67C57095-EB4B-47C6-B3DC-318CD5288A0D}"/>
              </a:ext>
            </a:extLst>
          </p:cNvPr>
          <p:cNvSpPr>
            <a:spLocks xmlns:a="http://schemas.openxmlformats.org/drawingml/2006/main" noGrp="1"/>
          </p:cNvSpPr>
          <p:nvPr/>
        </p:nvSpPr>
        <p:spPr>
          <a:xfrm xmlns:a="http://schemas.openxmlformats.org/drawingml/2006/main">
            <a:off x="731520" y="2935224"/>
            <a:ext cx="2926080" cy="566928"/>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17" name="Text 15">
            <a:extLst xmlns:a="http://schemas.openxmlformats.org/drawingml/2006/main">
              <a:ext uri="{FF2B5EF4-FFF2-40B4-BE49-F238E27FC236}">
                <a16:creationId xmlns:a16="http://schemas.microsoft.com/office/drawing/2014/main" id="{D3FBDD47-6F26-4502-84DE-AE4734551537}"/>
              </a:ext>
            </a:extLst>
          </p:cNvPr>
          <p:cNvSpPr>
            <a:spLocks xmlns:a="http://schemas.openxmlformats.org/drawingml/2006/main" noGrp="1"/>
          </p:cNvSpPr>
          <p:nvPr/>
        </p:nvSpPr>
        <p:spPr>
          <a:xfrm xmlns:a="http://schemas.openxmlformats.org/drawingml/2006/main">
            <a:off x="795528" y="3008376"/>
            <a:ext cx="2798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80">
                <a:solidFill>
                  <a:srgbClr val="19142B"/>
                </a:solidFill>
              </a:rPr>
              <a:t>State mismatch</a:t>
            </a:r>
            <a:endParaRPr sz="1280"/>
          </a:p>
        </p:txBody>
      </p:sp>
      <p:sp>
        <p:nvSpPr>
          <p:cNvPr id="18" name="Shape 16">
            <a:extLst xmlns:a="http://schemas.openxmlformats.org/drawingml/2006/main">
              <a:ext uri="{FF2B5EF4-FFF2-40B4-BE49-F238E27FC236}">
                <a16:creationId xmlns:a16="http://schemas.microsoft.com/office/drawing/2014/main" id="{D287C2FD-2A9D-4DC8-B4AA-F717863A7226}"/>
              </a:ext>
            </a:extLst>
          </p:cNvPr>
          <p:cNvSpPr>
            <a:spLocks xmlns:a="http://schemas.openxmlformats.org/drawingml/2006/main" noGrp="1"/>
          </p:cNvSpPr>
          <p:nvPr/>
        </p:nvSpPr>
        <p:spPr>
          <a:xfrm xmlns:a="http://schemas.openxmlformats.org/drawingml/2006/main">
            <a:off x="3657600" y="2935224"/>
            <a:ext cx="7498080" cy="566928"/>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19" name="Text 17">
            <a:extLst xmlns:a="http://schemas.openxmlformats.org/drawingml/2006/main">
              <a:ext uri="{FF2B5EF4-FFF2-40B4-BE49-F238E27FC236}">
                <a16:creationId xmlns:a16="http://schemas.microsoft.com/office/drawing/2014/main" id="{475CA15F-2763-4D31-A6BA-C53C1FA6BDD9}"/>
              </a:ext>
            </a:extLst>
          </p:cNvPr>
          <p:cNvSpPr>
            <a:spLocks xmlns:a="http://schemas.openxmlformats.org/drawingml/2006/main" noGrp="1"/>
          </p:cNvSpPr>
          <p:nvPr/>
        </p:nvSpPr>
        <p:spPr>
          <a:xfrm xmlns:a="http://schemas.openxmlformats.org/drawingml/2006/main">
            <a:off x="3721608" y="3008376"/>
            <a:ext cx="7370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280">
                <a:solidFill>
                  <a:srgbClr val="19142B"/>
                </a:solidFill>
              </a:rPr>
              <a:t>Provider state is authoritative. Partner may show pending local changes.</a:t>
            </a:r>
            <a:endParaRPr sz="1280"/>
          </a:p>
        </p:txBody>
      </p:sp>
      <p:sp>
        <p:nvSpPr>
          <p:cNvPr id="20" name="Shape 18">
            <a:extLst xmlns:a="http://schemas.openxmlformats.org/drawingml/2006/main">
              <a:ext uri="{FF2B5EF4-FFF2-40B4-BE49-F238E27FC236}">
                <a16:creationId xmlns:a16="http://schemas.microsoft.com/office/drawing/2014/main" id="{38E397AF-6D9C-4AE9-B47A-CECEF0B17F1B}"/>
              </a:ext>
            </a:extLst>
          </p:cNvPr>
          <p:cNvSpPr>
            <a:spLocks xmlns:a="http://schemas.openxmlformats.org/drawingml/2006/main" noGrp="1"/>
          </p:cNvSpPr>
          <p:nvPr/>
        </p:nvSpPr>
        <p:spPr>
          <a:xfrm xmlns:a="http://schemas.openxmlformats.org/drawingml/2006/main">
            <a:off x="731520" y="3502152"/>
            <a:ext cx="2926080" cy="566928"/>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21" name="Text 19">
            <a:extLst xmlns:a="http://schemas.openxmlformats.org/drawingml/2006/main">
              <a:ext uri="{FF2B5EF4-FFF2-40B4-BE49-F238E27FC236}">
                <a16:creationId xmlns:a16="http://schemas.microsoft.com/office/drawing/2014/main" id="{9A23797E-3D3E-4149-9E79-04556C9E4364}"/>
              </a:ext>
            </a:extLst>
          </p:cNvPr>
          <p:cNvSpPr>
            <a:spLocks xmlns:a="http://schemas.openxmlformats.org/drawingml/2006/main" noGrp="1"/>
          </p:cNvSpPr>
          <p:nvPr/>
        </p:nvSpPr>
        <p:spPr>
          <a:xfrm xmlns:a="http://schemas.openxmlformats.org/drawingml/2006/main">
            <a:off x="795528" y="3575304"/>
            <a:ext cx="2798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80">
                <a:solidFill>
                  <a:srgbClr val="19142B"/>
                </a:solidFill>
              </a:rPr>
              <a:t>Unsupported transition</a:t>
            </a:r>
            <a:endParaRPr sz="1280"/>
          </a:p>
        </p:txBody>
      </p:sp>
      <p:sp>
        <p:nvSpPr>
          <p:cNvPr id="22" name="Shape 20">
            <a:extLst xmlns:a="http://schemas.openxmlformats.org/drawingml/2006/main">
              <a:ext uri="{FF2B5EF4-FFF2-40B4-BE49-F238E27FC236}">
                <a16:creationId xmlns:a16="http://schemas.microsoft.com/office/drawing/2014/main" id="{528A2875-2AE8-4994-9C9B-3A794A1F97A8}"/>
              </a:ext>
            </a:extLst>
          </p:cNvPr>
          <p:cNvSpPr>
            <a:spLocks xmlns:a="http://schemas.openxmlformats.org/drawingml/2006/main" noGrp="1"/>
          </p:cNvSpPr>
          <p:nvPr/>
        </p:nvSpPr>
        <p:spPr>
          <a:xfrm xmlns:a="http://schemas.openxmlformats.org/drawingml/2006/main">
            <a:off x="3657600" y="3502152"/>
            <a:ext cx="7498080" cy="566928"/>
          </a:xfrm>
          <a:prstGeom xmlns:a="http://schemas.openxmlformats.org/drawingml/2006/main" prst="rect">
            <a:avLst/>
          </a:prstGeom>
          <a:solidFill xmlns:a="http://schemas.openxmlformats.org/drawingml/2006/main">
            <a:srgbClr val="F7F4FF"/>
          </a:solidFill>
          <a:ln xmlns:a="http://schemas.openxmlformats.org/drawingml/2006/main" w="7620">
            <a:solidFill>
              <a:srgbClr val="E3DDF2"/>
            </a:solidFill>
            <a:prstDash val="solid"/>
          </a:ln>
        </p:spPr>
      </p:sp>
      <p:sp>
        <p:nvSpPr>
          <p:cNvPr id="23" name="Text 21">
            <a:extLst xmlns:a="http://schemas.openxmlformats.org/drawingml/2006/main">
              <a:ext uri="{FF2B5EF4-FFF2-40B4-BE49-F238E27FC236}">
                <a16:creationId xmlns:a16="http://schemas.microsoft.com/office/drawing/2014/main" id="{324D96D6-E022-49E0-B011-5CB3C1C56E65}"/>
              </a:ext>
            </a:extLst>
          </p:cNvPr>
          <p:cNvSpPr>
            <a:spLocks xmlns:a="http://schemas.openxmlformats.org/drawingml/2006/main" noGrp="1"/>
          </p:cNvSpPr>
          <p:nvPr/>
        </p:nvSpPr>
        <p:spPr>
          <a:xfrm xmlns:a="http://schemas.openxmlformats.org/drawingml/2006/main">
            <a:off x="3721608" y="3575304"/>
            <a:ext cx="7370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280">
                <a:solidFill>
                  <a:srgbClr val="19142B"/>
                </a:solidFill>
              </a:rPr>
              <a:t>Validate supported transitions. Direct users to the provider portal when required.</a:t>
            </a:r>
            <a:endParaRPr sz="1280"/>
          </a:p>
        </p:txBody>
      </p:sp>
      <p:sp>
        <p:nvSpPr>
          <p:cNvPr id="24" name="Shape 22">
            <a:extLst xmlns:a="http://schemas.openxmlformats.org/drawingml/2006/main">
              <a:ext uri="{FF2B5EF4-FFF2-40B4-BE49-F238E27FC236}">
                <a16:creationId xmlns:a16="http://schemas.microsoft.com/office/drawing/2014/main" id="{376EB4D6-13C8-40F6-B8F1-09B3DF6FCFA8}"/>
              </a:ext>
            </a:extLst>
          </p:cNvPr>
          <p:cNvSpPr>
            <a:spLocks xmlns:a="http://schemas.openxmlformats.org/drawingml/2006/main" noGrp="1"/>
          </p:cNvSpPr>
          <p:nvPr/>
        </p:nvSpPr>
        <p:spPr>
          <a:xfrm xmlns:a="http://schemas.openxmlformats.org/drawingml/2006/main">
            <a:off x="731520" y="4069080"/>
            <a:ext cx="2926080" cy="566928"/>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25" name="Text 23">
            <a:extLst xmlns:a="http://schemas.openxmlformats.org/drawingml/2006/main">
              <a:ext uri="{FF2B5EF4-FFF2-40B4-BE49-F238E27FC236}">
                <a16:creationId xmlns:a16="http://schemas.microsoft.com/office/drawing/2014/main" id="{EB2EE3DD-2710-4C2F-90DA-7ABECE496A46}"/>
              </a:ext>
            </a:extLst>
          </p:cNvPr>
          <p:cNvSpPr>
            <a:spLocks xmlns:a="http://schemas.openxmlformats.org/drawingml/2006/main" noGrp="1"/>
          </p:cNvSpPr>
          <p:nvPr/>
        </p:nvSpPr>
        <p:spPr>
          <a:xfrm xmlns:a="http://schemas.openxmlformats.org/drawingml/2006/main">
            <a:off x="795528" y="4142232"/>
            <a:ext cx="2798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280">
                <a:solidFill>
                  <a:srgbClr val="19142B"/>
                </a:solidFill>
              </a:rPr>
              <a:t>Public holiday / system-created leave</a:t>
            </a:r>
            <a:endParaRPr sz="1280"/>
          </a:p>
        </p:txBody>
      </p:sp>
      <p:sp>
        <p:nvSpPr>
          <p:cNvPr id="26" name="Shape 24">
            <a:extLst xmlns:a="http://schemas.openxmlformats.org/drawingml/2006/main">
              <a:ext uri="{FF2B5EF4-FFF2-40B4-BE49-F238E27FC236}">
                <a16:creationId xmlns:a16="http://schemas.microsoft.com/office/drawing/2014/main" id="{CF2C1281-2935-4363-8A9B-8AFF55A123D8}"/>
              </a:ext>
            </a:extLst>
          </p:cNvPr>
          <p:cNvSpPr>
            <a:spLocks xmlns:a="http://schemas.openxmlformats.org/drawingml/2006/main" noGrp="1"/>
          </p:cNvSpPr>
          <p:nvPr/>
        </p:nvSpPr>
        <p:spPr>
          <a:xfrm xmlns:a="http://schemas.openxmlformats.org/drawingml/2006/main">
            <a:off x="3657600" y="4069080"/>
            <a:ext cx="7498080" cy="566928"/>
          </a:xfrm>
          <a:prstGeom xmlns:a="http://schemas.openxmlformats.org/drawingml/2006/main" prst="rect">
            <a:avLst/>
          </a:prstGeom>
          <a:solidFill xmlns:a="http://schemas.openxmlformats.org/drawingml/2006/main">
            <a:srgbClr val="FFFFFF"/>
          </a:solidFill>
          <a:ln xmlns:a="http://schemas.openxmlformats.org/drawingml/2006/main" w="7620">
            <a:solidFill>
              <a:srgbClr val="E3DDF2"/>
            </a:solidFill>
            <a:prstDash val="solid"/>
          </a:ln>
        </p:spPr>
      </p:sp>
      <p:sp>
        <p:nvSpPr>
          <p:cNvPr id="27" name="Text 25">
            <a:extLst xmlns:a="http://schemas.openxmlformats.org/drawingml/2006/main">
              <a:ext uri="{FF2B5EF4-FFF2-40B4-BE49-F238E27FC236}">
                <a16:creationId xmlns:a16="http://schemas.microsoft.com/office/drawing/2014/main" id="{68AE64A7-3647-473B-B269-6C88E97DE82C}"/>
              </a:ext>
            </a:extLst>
          </p:cNvPr>
          <p:cNvSpPr>
            <a:spLocks xmlns:a="http://schemas.openxmlformats.org/drawingml/2006/main" noGrp="1"/>
          </p:cNvSpPr>
          <p:nvPr/>
        </p:nvSpPr>
        <p:spPr>
          <a:xfrm xmlns:a="http://schemas.openxmlformats.org/drawingml/2006/main">
            <a:off x="3721608" y="4142232"/>
            <a:ext cx="7370064" cy="42062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280">
                <a:solidFill>
                  <a:srgbClr val="19142B"/>
                </a:solidFill>
              </a:rPr>
              <a:t>Keep provider-created records read-only unless the API supports updates.</a:t>
            </a:r>
            <a:endParaRPr sz="1280"/>
          </a:p>
        </p:txBody>
      </p:sp>
      <p:sp>
        <p:nvSpPr>
          <p:cNvPr id="28" name="Text 26">
            <a:extLst xmlns:a="http://schemas.openxmlformats.org/drawingml/2006/main">
              <a:ext uri="{FF2B5EF4-FFF2-40B4-BE49-F238E27FC236}">
                <a16:creationId xmlns:a16="http://schemas.microsoft.com/office/drawing/2014/main" id="{61AEE717-E2F6-4664-B811-A2F429CB3857}"/>
              </a:ext>
            </a:extLst>
          </p:cNvPr>
          <p:cNvSpPr>
            <a:spLocks xmlns:a="http://schemas.openxmlformats.org/drawingml/2006/main" noGrp="1"/>
          </p:cNvSpPr>
          <p:nvPr/>
        </p:nvSpPr>
        <p:spPr>
          <a:xfrm xmlns:a="http://schemas.openxmlformats.org/drawingml/2006/main">
            <a:off x="822960" y="5074920"/>
            <a:ext cx="104241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200" b="1">
                <a:solidFill>
                  <a:srgbClr val="19142B"/>
                </a:solidFill>
              </a:rPr>
              <a:t>Each system can update only the fields and transitions it owns.</a:t>
            </a:r>
            <a:endParaRPr sz="2200"/>
          </a:p>
        </p:txBody>
      </p:sp>
      <p:sp>
        <p:nvSpPr>
          <p:cNvPr id="29" name="Slide Number Placeholder 0">
            <a:extLst xmlns:a="http://schemas.openxmlformats.org/drawingml/2006/main">
              <a:ext uri="{FF2B5EF4-FFF2-40B4-BE49-F238E27FC236}">
                <a16:creationId xmlns:a16="http://schemas.microsoft.com/office/drawing/2014/main" id="{EE7BA1C1-FA23-4ABF-831F-DA8088950E3C}"/>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14</a:t>
            </a:fld>
            <a:endParaRPr/>
          </a:p>
        </p:txBody>
      </p:sp>
    </p:spTree>
    <p:extLst>
      <p:ext uri="{BB962C8B-B14F-4D97-AF65-F5344CB8AC3E}">
        <p14:creationId xmlns:p14="http://schemas.microsoft.com/office/powerpoint/2010/main" val="27862898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6" name="Picture 2"/>
          <p:cNvPicPr>
            <a:picLocks xmlns:a="http://schemas.openxmlformats.org/drawingml/2006/main" noChangeAspect="1"/>
          </p:cNvPicPr>
          <p:nvPr/>
        </p:nvPicPr>
        <p:blipFill>
          <a:blip xmlns:r="http://schemas.openxmlformats.org/officeDocument/2006/relationships" xmlns:a="http://schemas.openxmlformats.org/drawingml/2006/main" r:embed="R7274fc27aaa745a3"/>
          <a:stretch xmlns:a="http://schemas.openxmlformats.org/drawingml/2006/main">
            <a:fillRect l="0" t="0" r="0" b="0"/>
          </a:stretch>
        </p:blipFill>
        <p:spPr>
          <a:xfrm xmlns:a="http://schemas.openxmlformats.org/drawingml/2006/main">
            <a:off x="952500" y="360218"/>
            <a:ext cx="10287000" cy="6086764"/>
          </a:xfrm>
          <a:prstGeom xmlns:a="http://schemas.openxmlformats.org/drawingml/2006/main" prst="rect">
            <a:avLst/>
          </a:prstGeom>
        </p:spPr>
      </p:pic>
      <p:sp>
        <p:nvSpPr>
          <p:cNvPr id="4" name="Slide Number Placeholder 0">
            <a:extLst xmlns:a="http://schemas.openxmlformats.org/drawingml/2006/main">
              <a:ext uri="{FF2B5EF4-FFF2-40B4-BE49-F238E27FC236}">
                <a16:creationId xmlns:a16="http://schemas.microsoft.com/office/drawing/2014/main" id="{C8C39659-9236-FECF-B407-7F0B6759E474}"/>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15</a:t>
            </a:fld>
            <a:endParaRPr/>
          </a:p>
        </p:txBody>
      </p:sp>
    </p:spTree>
    <p:extLst>
      <p:ext uri="{BB962C8B-B14F-4D97-AF65-F5344CB8AC3E}">
        <p14:creationId xmlns:p14="http://schemas.microsoft.com/office/powerpoint/2010/main" val="66807206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6A84493E-E91D-925C-1CEA-3283D71449D3}"/>
              </a:ext>
            </a:extLst>
          </p:cNvPr>
          <p:cNvSpPr>
            <a:spLocks xmlns:a="http://schemas.openxmlformats.org/drawingml/2006/main" noGrp="1"/>
          </p:cNvSpPr>
          <p:nvPr>
            <p:ph type="sldNum" idx="4294967295"/>
          </p:nvPr>
        </p:nvSpPr>
        <p:spPr/>
        <p:txBody>
          <a:bodyPr xmlns:a="http://schemas.openxmlformats.org/drawingml/2006/main"/>
          <a:lstStyle xmlns:a="http://schemas.openxmlformats.org/drawingml/2006/main"/>
          <a:p xmlns:a="http://schemas.openxmlformats.org/drawingml/2006/main">
            <a:pPr algn="l">
              <a:buNone/>
            </a:pPr>
            <a:fld id="{F7021451-1387-4CA6-816F-3879F97B5CBC}" type="slidenum">
              <a:rPr b="0"/>
              <a:t>16</a:t>
            </a:fld>
            <a:endParaRPr/>
          </a:p>
        </p:txBody>
      </p:sp>
      <p:pic>
        <p:nvPicPr>
          <p:cNvPr id="5" name="Picture 3"/>
          <p:cNvPicPr>
            <a:picLocks xmlns:a="http://schemas.openxmlformats.org/drawingml/2006/main" noChangeAspect="1"/>
          </p:cNvPicPr>
          <p:nvPr/>
        </p:nvPicPr>
        <p:blipFill>
          <a:blip xmlns:r="http://schemas.openxmlformats.org/officeDocument/2006/relationships" xmlns:a="http://schemas.openxmlformats.org/drawingml/2006/main" r:embed="R9735a15f6dcf4c54"/>
          <a:stretch xmlns:a="http://schemas.openxmlformats.org/drawingml/2006/main">
            <a:fillRect l="0" t="0" r="0" b="0"/>
          </a:stretch>
        </p:blipFill>
        <p:spPr>
          <a:xfrm xmlns:a="http://schemas.openxmlformats.org/drawingml/2006/main">
            <a:off x="952500" y="531223"/>
            <a:ext cx="10287000" cy="5590904"/>
          </a:xfrm>
          <a:prstGeom xmlns:a="http://schemas.openxmlformats.org/drawingml/2006/main" prst="rect">
            <a:avLst/>
          </a:prstGeom>
        </p:spPr>
      </p:pic>
    </p:spTree>
    <p:extLst>
      <p:ext uri="{BB962C8B-B14F-4D97-AF65-F5344CB8AC3E}">
        <p14:creationId xmlns:p14="http://schemas.microsoft.com/office/powerpoint/2010/main" val="7106952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B11579F-34D7-446A-BCB1-E2968D8950A7}"/>
              </a:ext>
            </a:extLst>
          </p:cNvPr>
          <p:cNvSpPr>
            <a:spLocks xmlns:a="http://schemas.openxmlformats.org/drawingml/2006/main" noGrp="1"/>
          </p:cNvSpPr>
          <p:nvPr/>
        </p:nvSpPr>
        <p:spPr>
          <a:xfrm xmlns:a="http://schemas.openxmlformats.org/drawingml/2006/main">
            <a:off x="548640" y="347472"/>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13F"/>
                </a:solidFill>
                <a:latin typeface="Aptos Display"/>
                <a:ea typeface="Aptos Display"/>
                <a:cs typeface="Aptos Display"/>
              </a:rPr>
              <a:t>Appendix: API Contract Validation</a:t>
            </a:r>
            <a:endParaRPr sz="3000">
              <a:solidFill>
                <a:srgbClr val="11113F"/>
              </a:solidFill>
            </a:endParaRPr>
          </a:p>
        </p:txBody>
      </p:sp>
      <p:sp>
        <p:nvSpPr>
          <p:cNvPr id="3" name="Text 1">
            <a:extLst xmlns:a="http://schemas.openxmlformats.org/drawingml/2006/main">
              <a:ext uri="{FF2B5EF4-FFF2-40B4-BE49-F238E27FC236}">
                <a16:creationId xmlns:a16="http://schemas.microsoft.com/office/drawing/2014/main" id="{A775B93F-9DC7-4290-9CAA-F086CBB0029A}"/>
              </a:ext>
            </a:extLst>
          </p:cNvPr>
          <p:cNvSpPr>
            <a:spLocks xmlns:a="http://schemas.openxmlformats.org/drawingml/2006/main" noGrp="1"/>
          </p:cNvSpPr>
          <p:nvPr/>
        </p:nvSpPr>
        <p:spPr>
          <a:xfrm xmlns:a="http://schemas.openxmlformats.org/drawingml/2006/main">
            <a:off x="566928" y="804672"/>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E5872"/>
                </a:solidFill>
              </a:rPr>
              <a:t>Validation checklist for a hypothetical provider integration.</a:t>
            </a:r>
            <a:endParaRPr sz="1300"/>
          </a:p>
        </p:txBody>
      </p:sp>
      <p:sp>
        <p:nvSpPr>
          <p:cNvPr id="4" name="Text 2">
            <a:extLst xmlns:a="http://schemas.openxmlformats.org/drawingml/2006/main">
              <a:ext uri="{FF2B5EF4-FFF2-40B4-BE49-F238E27FC236}">
                <a16:creationId xmlns:a16="http://schemas.microsoft.com/office/drawing/2014/main" id="{7456D5F8-F006-42E1-8933-D002F1E81F58}"/>
              </a:ext>
            </a:extLst>
          </p:cNvPr>
          <p:cNvSpPr>
            <a:spLocks xmlns:a="http://schemas.openxmlformats.org/drawingml/2006/main" noGrp="1"/>
          </p:cNvSpPr>
          <p:nvPr/>
        </p:nvSpPr>
        <p:spPr>
          <a:xfrm xmlns:a="http://schemas.openxmlformats.org/drawingml/2006/main">
            <a:off x="822960" y="1371600"/>
            <a:ext cx="9875520" cy="33832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normAutofit/>
          </a:bodyPr>
          <a:lstStyle xmlns:a="http://schemas.openxmlformats.org/drawingml/2006/main"/>
          <a:p xmlns:a="http://schemas.openxmlformats.org/drawingml/2006/main">
            <a:r>
              <a:rPr sz="1600">
                <a:solidFill>
                  <a:srgbClr val="19142B"/>
                </a:solidFill>
              </a:rPr>
              <a:t>API access and authentication: OAuth, scopes, tenant context, embedded flows, and events.</a:t>
            </a:r>
            <a:endParaRPr sz="1600"/>
          </a:p>
          <a:p xmlns:a="http://schemas.openxmlformats.org/drawingml/2006/main">
            <a:r>
              <a:rPr sz="1600">
                <a:solidFill>
                  <a:srgbClr val="19142B"/>
                </a:solidFill>
              </a:rPr>
              <a:t>Employment creation: create operations, sandbox environments, and organization identifiers.</a:t>
            </a:r>
            <a:endParaRPr sz="1600"/>
          </a:p>
          <a:p xmlns:a="http://schemas.openxmlformats.org/drawingml/2006/main">
            <a:r>
              <a:rPr sz="1600">
                <a:solidFill>
                  <a:srgbClr val="19142B"/>
                </a:solidFill>
              </a:rPr>
              <a:t>Update and invite: employee invitations and visibility into employment stage/status.</a:t>
            </a:r>
            <a:endParaRPr sz="1600"/>
          </a:p>
          <a:p xmlns:a="http://schemas.openxmlformats.org/drawingml/2006/main">
            <a:r>
              <a:rPr sz="1600">
                <a:solidFill>
                  <a:srgbClr val="19142B"/>
                </a:solidFill>
              </a:rPr>
              <a:t>Lifecycle stages: draft creation, employee tasks, eligibility, signing, onboarding, and offboarding.</a:t>
            </a:r>
            <a:endParaRPr sz="1600"/>
          </a:p>
          <a:p xmlns:a="http://schemas.openxmlformats.org/drawingml/2006/main">
            <a:r>
              <a:rPr sz="1600">
                <a:solidFill>
                  <a:srgbClr val="19142B"/>
                </a:solidFill>
              </a:rPr>
              <a:t>Webhooks: callback registration, signatures, timestamps, retries, and event identity.</a:t>
            </a:r>
            <a:endParaRPr sz="1600"/>
          </a:p>
          <a:p xmlns:a="http://schemas.openxmlformats.org/drawingml/2006/main">
            <a:r>
              <a:rPr sz="1600">
                <a:solidFill>
                  <a:srgbClr val="19142B"/>
                </a:solidFill>
              </a:rPr>
              <a:t>Time off: status ownership, create/update/cancel operations, and change notifications.</a:t>
            </a:r>
            <a:endParaRPr sz="1600"/>
          </a:p>
        </p:txBody>
      </p:sp>
      <p:sp>
        <p:nvSpPr>
          <p:cNvPr id="5" name="Text 3">
            <a:extLst xmlns:a="http://schemas.openxmlformats.org/drawingml/2006/main">
              <a:ext uri="{FF2B5EF4-FFF2-40B4-BE49-F238E27FC236}">
                <a16:creationId xmlns:a16="http://schemas.microsoft.com/office/drawing/2014/main" id="{69F161F9-7A2C-4AFC-868A-6604233E4155}"/>
              </a:ext>
            </a:extLst>
          </p:cNvPr>
          <p:cNvSpPr>
            <a:spLocks xmlns:a="http://schemas.openxmlformats.org/drawingml/2006/main" noGrp="1"/>
          </p:cNvSpPr>
          <p:nvPr/>
        </p:nvSpPr>
        <p:spPr>
          <a:xfrm xmlns:a="http://schemas.openxmlformats.org/drawingml/2006/main">
            <a:off x="868680" y="5303520"/>
            <a:ext cx="103327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5E5872"/>
                </a:solidFill>
              </a:rPr>
              <a:t>All API examples are illustrative. Validate endpoints, events, and payloads in the provider sandbox before any implementation.</a:t>
            </a:r>
            <a:endParaRPr sz="1600"/>
          </a:p>
        </p:txBody>
      </p:sp>
      <p:sp>
        <p:nvSpPr>
          <p:cNvPr id="25" name="Slide Number Placeholder 0">
            <a:extLst xmlns:a="http://schemas.openxmlformats.org/drawingml/2006/main">
              <a:ext uri="{FF2B5EF4-FFF2-40B4-BE49-F238E27FC236}">
                <a16:creationId xmlns:a16="http://schemas.microsoft.com/office/drawing/2014/main" id="{A667E62A-6DA8-48DE-952C-66C11A5A69C7}"/>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17</a:t>
            </a:fld>
            <a:endParaRPr/>
          </a:p>
        </p:txBody>
      </p:sp>
    </p:spTree>
    <p:extLst>
      <p:ext uri="{BB962C8B-B14F-4D97-AF65-F5344CB8AC3E}">
        <p14:creationId xmlns:p14="http://schemas.microsoft.com/office/powerpoint/2010/main" val="88648927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BA22B7-871D-4432-ADF0-DC264A55F232}"/>
              </a:ext>
            </a:extLst>
          </p:cNvPr>
          <p:cNvSpPr>
            <a:spLocks xmlns:a="http://schemas.openxmlformats.org/drawingml/2006/main" noGrp="1"/>
          </p:cNvSpPr>
          <p:nvPr/>
        </p:nvSpPr>
        <p:spPr>
          <a:xfrm xmlns:a="http://schemas.openxmlformats.org/drawingml/2006/main">
            <a:off x="548640" y="347472"/>
            <a:ext cx="10881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13F"/>
                </a:solidFill>
                <a:latin typeface="Aptos Display"/>
                <a:ea typeface="Aptos Display"/>
                <a:cs typeface="Aptos Display"/>
              </a:rPr>
              <a:t>Appendix: Assumptions and Open Questions</a:t>
            </a:r>
            <a:endParaRPr sz="3000">
              <a:solidFill>
                <a:srgbClr val="11113F"/>
              </a:solidFill>
            </a:endParaRPr>
          </a:p>
        </p:txBody>
      </p:sp>
      <p:sp>
        <p:nvSpPr>
          <p:cNvPr id="3" name="Text 1">
            <a:extLst xmlns:a="http://schemas.openxmlformats.org/drawingml/2006/main">
              <a:ext uri="{FF2B5EF4-FFF2-40B4-BE49-F238E27FC236}">
                <a16:creationId xmlns:a16="http://schemas.microsoft.com/office/drawing/2014/main" id="{82F9D4FC-C8BA-49B2-AF56-A89A9B032C0F}"/>
              </a:ext>
            </a:extLst>
          </p:cNvPr>
          <p:cNvSpPr>
            <a:spLocks xmlns:a="http://schemas.openxmlformats.org/drawingml/2006/main" noGrp="1"/>
          </p:cNvSpPr>
          <p:nvPr/>
        </p:nvSpPr>
        <p:spPr>
          <a:xfrm xmlns:a="http://schemas.openxmlformats.org/drawingml/2006/main">
            <a:off x="566928" y="804672"/>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E5872"/>
                </a:solidFill>
              </a:rPr>
              <a:t>Questions for a provider evaluation before any implementation.</a:t>
            </a:r>
            <a:endParaRPr sz="1300"/>
          </a:p>
        </p:txBody>
      </p:sp>
      <p:sp>
        <p:nvSpPr>
          <p:cNvPr id="4" name="Shape 2">
            <a:extLst xmlns:a="http://schemas.openxmlformats.org/drawingml/2006/main">
              <a:ext uri="{FF2B5EF4-FFF2-40B4-BE49-F238E27FC236}">
                <a16:creationId xmlns:a16="http://schemas.microsoft.com/office/drawing/2014/main" id="{ECAA8B4B-C38F-453A-80C6-941F67A3EC9C}"/>
              </a:ext>
            </a:extLst>
          </p:cNvPr>
          <p:cNvSpPr>
            <a:spLocks xmlns:a="http://schemas.openxmlformats.org/drawingml/2006/main" noGrp="1"/>
          </p:cNvSpPr>
          <p:nvPr/>
        </p:nvSpPr>
        <p:spPr>
          <a:xfrm xmlns:a="http://schemas.openxmlformats.org/drawingml/2006/main">
            <a:off x="822960" y="1234440"/>
            <a:ext cx="2423160" cy="438912"/>
          </a:xfrm>
          <a:prstGeom xmlns:a="http://schemas.openxmlformats.org/drawingml/2006/main" prst="roundRect">
            <a:avLst>
              <a:gd name="adj" fmla="val 16667"/>
            </a:avLst>
          </a:prstGeom>
          <a:solidFill xmlns:a="http://schemas.openxmlformats.org/drawingml/2006/main">
            <a:srgbClr val="EEE8FF"/>
          </a:solidFill>
          <a:ln xmlns:a="http://schemas.openxmlformats.org/drawingml/2006/main" w="15240">
            <a:solidFill>
              <a:srgbClr val="5E36D7"/>
            </a:solidFill>
            <a:prstDash val="solid"/>
          </a:ln>
        </p:spPr>
      </p:sp>
      <p:sp>
        <p:nvSpPr>
          <p:cNvPr id="5" name="Text 3">
            <a:extLst xmlns:a="http://schemas.openxmlformats.org/drawingml/2006/main">
              <a:ext uri="{FF2B5EF4-FFF2-40B4-BE49-F238E27FC236}">
                <a16:creationId xmlns:a16="http://schemas.microsoft.com/office/drawing/2014/main" id="{39FDBC2C-E08F-4749-873D-3406713F5350}"/>
              </a:ext>
            </a:extLst>
          </p:cNvPr>
          <p:cNvSpPr>
            <a:spLocks xmlns:a="http://schemas.openxmlformats.org/drawingml/2006/main" noGrp="1"/>
          </p:cNvSpPr>
          <p:nvPr/>
        </p:nvSpPr>
        <p:spPr>
          <a:xfrm xmlns:a="http://schemas.openxmlformats.org/drawingml/2006/main">
            <a:off x="896112" y="1298448"/>
            <a:ext cx="2276856"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250" b="1">
                <a:solidFill>
                  <a:srgbClr val="5E36D7"/>
                </a:solidFill>
              </a:rPr>
              <a:t>SDK / Embedded Components</a:t>
            </a:r>
            <a:endParaRPr sz="1250"/>
          </a:p>
        </p:txBody>
      </p:sp>
      <p:sp>
        <p:nvSpPr>
          <p:cNvPr id="6" name="Text 4">
            <a:extLst xmlns:a="http://schemas.openxmlformats.org/drawingml/2006/main">
              <a:ext uri="{FF2B5EF4-FFF2-40B4-BE49-F238E27FC236}">
                <a16:creationId xmlns:a16="http://schemas.microsoft.com/office/drawing/2014/main" id="{0481CF44-CF89-4D24-AC57-BAE4F68417F1}"/>
              </a:ext>
            </a:extLst>
          </p:cNvPr>
          <p:cNvSpPr>
            <a:spLocks xmlns:a="http://schemas.openxmlformats.org/drawingml/2006/main" noGrp="1"/>
          </p:cNvSpPr>
          <p:nvPr/>
        </p:nvSpPr>
        <p:spPr>
          <a:xfrm xmlns:a="http://schemas.openxmlformats.org/drawingml/2006/main">
            <a:off x="3520440" y="1252728"/>
            <a:ext cx="7269480" cy="384048"/>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lnSpcReduction="10000"/>
          </a:bodyPr>
          <a:lstStyle xmlns:a="http://schemas.openxmlformats.org/drawingml/2006/main"/>
          <a:p xmlns:a="http://schemas.openxmlformats.org/drawingml/2006/main">
            <a:pPr marL="0" indent="0">
              <a:buNone/>
            </a:pPr>
            <a:r>
              <a:rPr sz="1330">
                <a:solidFill>
                  <a:srgbClr val="19142B"/>
                </a:solidFill>
              </a:rPr>
              <a:t>Confirm whether provider SDKs or hosted flows support this experience, and where API-only UX is required.</a:t>
            </a:r>
            <a:endParaRPr sz="1330"/>
          </a:p>
        </p:txBody>
      </p:sp>
      <p:sp>
        <p:nvSpPr>
          <p:cNvPr id="7" name="Shape 5">
            <a:extLst xmlns:a="http://schemas.openxmlformats.org/drawingml/2006/main">
              <a:ext uri="{FF2B5EF4-FFF2-40B4-BE49-F238E27FC236}">
                <a16:creationId xmlns:a16="http://schemas.microsoft.com/office/drawing/2014/main" id="{1CEC1C91-22B0-4E2E-9CB4-8E4CA7290B81}"/>
              </a:ext>
            </a:extLst>
          </p:cNvPr>
          <p:cNvSpPr>
            <a:spLocks xmlns:a="http://schemas.openxmlformats.org/drawingml/2006/main" noGrp="1"/>
          </p:cNvSpPr>
          <p:nvPr/>
        </p:nvSpPr>
        <p:spPr>
          <a:xfrm xmlns:a="http://schemas.openxmlformats.org/drawingml/2006/main">
            <a:off x="822960" y="2075688"/>
            <a:ext cx="242316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5240">
            <a:solidFill>
              <a:srgbClr val="5E36D7"/>
            </a:solidFill>
            <a:prstDash val="solid"/>
          </a:ln>
        </p:spPr>
      </p:sp>
      <p:sp>
        <p:nvSpPr>
          <p:cNvPr id="8" name="Text 6">
            <a:extLst xmlns:a="http://schemas.openxmlformats.org/drawingml/2006/main">
              <a:ext uri="{FF2B5EF4-FFF2-40B4-BE49-F238E27FC236}">
                <a16:creationId xmlns:a16="http://schemas.microsoft.com/office/drawing/2014/main" id="{5F214004-A974-4D72-B65F-F802C1B81DC4}"/>
              </a:ext>
            </a:extLst>
          </p:cNvPr>
          <p:cNvSpPr>
            <a:spLocks xmlns:a="http://schemas.openxmlformats.org/drawingml/2006/main" noGrp="1"/>
          </p:cNvSpPr>
          <p:nvPr/>
        </p:nvSpPr>
        <p:spPr>
          <a:xfrm xmlns:a="http://schemas.openxmlformats.org/drawingml/2006/main">
            <a:off x="896112" y="2139696"/>
            <a:ext cx="2276856"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250" b="1">
                <a:solidFill>
                  <a:srgbClr val="5E36D7"/>
                </a:solidFill>
              </a:rPr>
              <a:t>Webhook Payload Contract</a:t>
            </a:r>
            <a:endParaRPr sz="1250"/>
          </a:p>
        </p:txBody>
      </p:sp>
      <p:sp>
        <p:nvSpPr>
          <p:cNvPr id="9" name="Text 7">
            <a:extLst xmlns:a="http://schemas.openxmlformats.org/drawingml/2006/main">
              <a:ext uri="{FF2B5EF4-FFF2-40B4-BE49-F238E27FC236}">
                <a16:creationId xmlns:a16="http://schemas.microsoft.com/office/drawing/2014/main" id="{8CAA1D21-217A-4FC4-AE17-9888A3545D7C}"/>
              </a:ext>
            </a:extLst>
          </p:cNvPr>
          <p:cNvSpPr>
            <a:spLocks xmlns:a="http://schemas.openxmlformats.org/drawingml/2006/main" noGrp="1"/>
          </p:cNvSpPr>
          <p:nvPr/>
        </p:nvSpPr>
        <p:spPr>
          <a:xfrm xmlns:a="http://schemas.openxmlformats.org/drawingml/2006/main">
            <a:off x="3520440" y="2093976"/>
            <a:ext cx="7269480" cy="384048"/>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lnSpcReduction="10000"/>
          </a:bodyPr>
          <a:lstStyle xmlns:a="http://schemas.openxmlformats.org/drawingml/2006/main"/>
          <a:p xmlns:a="http://schemas.openxmlformats.org/drawingml/2006/main">
            <a:pPr marL="0" indent="0">
              <a:buNone/>
            </a:pPr>
            <a:r>
              <a:rPr sz="1330">
                <a:solidFill>
                  <a:srgbClr val="19142B"/>
                </a:solidFill>
              </a:rPr>
              <a:t>Confirm stable event IDs, timestamps, object IDs, retry behavior, and delivery-order guarantees.</a:t>
            </a:r>
            <a:endParaRPr sz="1330"/>
          </a:p>
        </p:txBody>
      </p:sp>
      <p:sp>
        <p:nvSpPr>
          <p:cNvPr id="10" name="Shape 8">
            <a:extLst xmlns:a="http://schemas.openxmlformats.org/drawingml/2006/main">
              <a:ext uri="{FF2B5EF4-FFF2-40B4-BE49-F238E27FC236}">
                <a16:creationId xmlns:a16="http://schemas.microsoft.com/office/drawing/2014/main" id="{A806BBB2-EECD-4476-9BD9-EED3F6162B62}"/>
              </a:ext>
            </a:extLst>
          </p:cNvPr>
          <p:cNvSpPr>
            <a:spLocks xmlns:a="http://schemas.openxmlformats.org/drawingml/2006/main" noGrp="1"/>
          </p:cNvSpPr>
          <p:nvPr/>
        </p:nvSpPr>
        <p:spPr>
          <a:xfrm xmlns:a="http://schemas.openxmlformats.org/drawingml/2006/main">
            <a:off x="822960" y="2916936"/>
            <a:ext cx="2423160" cy="438912"/>
          </a:xfrm>
          <a:prstGeom xmlns:a="http://schemas.openxmlformats.org/drawingml/2006/main" prst="roundRect">
            <a:avLst>
              <a:gd name="adj" fmla="val 16667"/>
            </a:avLst>
          </a:prstGeom>
          <a:solidFill xmlns:a="http://schemas.openxmlformats.org/drawingml/2006/main">
            <a:srgbClr val="EEE8FF"/>
          </a:solidFill>
          <a:ln xmlns:a="http://schemas.openxmlformats.org/drawingml/2006/main" w="15240">
            <a:solidFill>
              <a:srgbClr val="5E36D7"/>
            </a:solidFill>
            <a:prstDash val="solid"/>
          </a:ln>
        </p:spPr>
      </p:sp>
      <p:sp>
        <p:nvSpPr>
          <p:cNvPr id="11" name="Text 9">
            <a:extLst xmlns:a="http://schemas.openxmlformats.org/drawingml/2006/main">
              <a:ext uri="{FF2B5EF4-FFF2-40B4-BE49-F238E27FC236}">
                <a16:creationId xmlns:a16="http://schemas.microsoft.com/office/drawing/2014/main" id="{5442F543-59BC-43A4-8A35-BB92D3DFD7C8}"/>
              </a:ext>
            </a:extLst>
          </p:cNvPr>
          <p:cNvSpPr>
            <a:spLocks xmlns:a="http://schemas.openxmlformats.org/drawingml/2006/main" noGrp="1"/>
          </p:cNvSpPr>
          <p:nvPr/>
        </p:nvSpPr>
        <p:spPr>
          <a:xfrm xmlns:a="http://schemas.openxmlformats.org/drawingml/2006/main">
            <a:off x="896112" y="2980944"/>
            <a:ext cx="2276856"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250" b="1">
                <a:solidFill>
                  <a:srgbClr val="5E36D7"/>
                </a:solidFill>
              </a:rPr>
              <a:t>Idempotency Support</a:t>
            </a:r>
            <a:endParaRPr sz="1250"/>
          </a:p>
        </p:txBody>
      </p:sp>
      <p:sp>
        <p:nvSpPr>
          <p:cNvPr id="12" name="Text 10">
            <a:extLst xmlns:a="http://schemas.openxmlformats.org/drawingml/2006/main">
              <a:ext uri="{FF2B5EF4-FFF2-40B4-BE49-F238E27FC236}">
                <a16:creationId xmlns:a16="http://schemas.microsoft.com/office/drawing/2014/main" id="{6428039A-982F-47D7-9C9D-8515457401C6}"/>
              </a:ext>
            </a:extLst>
          </p:cNvPr>
          <p:cNvSpPr>
            <a:spLocks xmlns:a="http://schemas.openxmlformats.org/drawingml/2006/main" noGrp="1"/>
          </p:cNvSpPr>
          <p:nvPr/>
        </p:nvSpPr>
        <p:spPr>
          <a:xfrm xmlns:a="http://schemas.openxmlformats.org/drawingml/2006/main">
            <a:off x="3520440" y="2935224"/>
            <a:ext cx="7269480" cy="384048"/>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lnSpcReduction="10000"/>
          </a:bodyPr>
          <a:lstStyle xmlns:a="http://schemas.openxmlformats.org/drawingml/2006/main"/>
          <a:p xmlns:a="http://schemas.openxmlformats.org/drawingml/2006/main">
            <a:pPr marL="0" indent="0">
              <a:buNone/>
            </a:pPr>
            <a:r>
              <a:rPr sz="1330">
                <a:solidFill>
                  <a:srgbClr val="19142B"/>
                </a:solidFill>
              </a:rPr>
              <a:t>Confirm provider idempotency support. If absent, define lookup and recovery for ambiguous create outcomes.</a:t>
            </a:r>
            <a:endParaRPr sz="1330"/>
          </a:p>
        </p:txBody>
      </p:sp>
      <p:sp>
        <p:nvSpPr>
          <p:cNvPr id="13" name="Shape 11">
            <a:extLst xmlns:a="http://schemas.openxmlformats.org/drawingml/2006/main">
              <a:ext uri="{FF2B5EF4-FFF2-40B4-BE49-F238E27FC236}">
                <a16:creationId xmlns:a16="http://schemas.microsoft.com/office/drawing/2014/main" id="{7D2FFF00-8566-4F9C-936B-BC0D25287ADC}"/>
              </a:ext>
            </a:extLst>
          </p:cNvPr>
          <p:cNvSpPr>
            <a:spLocks xmlns:a="http://schemas.openxmlformats.org/drawingml/2006/main" noGrp="1"/>
          </p:cNvSpPr>
          <p:nvPr/>
        </p:nvSpPr>
        <p:spPr>
          <a:xfrm xmlns:a="http://schemas.openxmlformats.org/drawingml/2006/main">
            <a:off x="822960" y="3758184"/>
            <a:ext cx="242316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5240">
            <a:solidFill>
              <a:srgbClr val="5E36D7"/>
            </a:solidFill>
            <a:prstDash val="solid"/>
          </a:ln>
        </p:spPr>
      </p:sp>
      <p:sp>
        <p:nvSpPr>
          <p:cNvPr id="14" name="Text 12">
            <a:extLst xmlns:a="http://schemas.openxmlformats.org/drawingml/2006/main">
              <a:ext uri="{FF2B5EF4-FFF2-40B4-BE49-F238E27FC236}">
                <a16:creationId xmlns:a16="http://schemas.microsoft.com/office/drawing/2014/main" id="{0BEFF90F-487D-4797-86AE-90E0AFF2372B}"/>
              </a:ext>
            </a:extLst>
          </p:cNvPr>
          <p:cNvSpPr>
            <a:spLocks xmlns:a="http://schemas.openxmlformats.org/drawingml/2006/main" noGrp="1"/>
          </p:cNvSpPr>
          <p:nvPr/>
        </p:nvSpPr>
        <p:spPr>
          <a:xfrm xmlns:a="http://schemas.openxmlformats.org/drawingml/2006/main">
            <a:off x="896112" y="3822192"/>
            <a:ext cx="2276856"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92500"/>
          </a:bodyPr>
          <a:lstStyle xmlns:a="http://schemas.openxmlformats.org/drawingml/2006/main"/>
          <a:p xmlns:a="http://schemas.openxmlformats.org/drawingml/2006/main">
            <a:pPr marL="0" indent="0" algn="ctr">
              <a:buNone/>
            </a:pPr>
            <a:r>
              <a:rPr sz="1250" b="1">
                <a:solidFill>
                  <a:srgbClr val="5E36D7"/>
                </a:solidFill>
              </a:rPr>
              <a:t>Rate Limits and Polling Windows</a:t>
            </a:r>
            <a:endParaRPr sz="1250"/>
          </a:p>
        </p:txBody>
      </p:sp>
      <p:sp>
        <p:nvSpPr>
          <p:cNvPr id="15" name="Text 13">
            <a:extLst xmlns:a="http://schemas.openxmlformats.org/drawingml/2006/main">
              <a:ext uri="{FF2B5EF4-FFF2-40B4-BE49-F238E27FC236}">
                <a16:creationId xmlns:a16="http://schemas.microsoft.com/office/drawing/2014/main" id="{C9A5C559-C0A1-4EA3-8A59-CC84B785AEAE}"/>
              </a:ext>
            </a:extLst>
          </p:cNvPr>
          <p:cNvSpPr>
            <a:spLocks xmlns:a="http://schemas.openxmlformats.org/drawingml/2006/main" noGrp="1"/>
          </p:cNvSpPr>
          <p:nvPr/>
        </p:nvSpPr>
        <p:spPr>
          <a:xfrm xmlns:a="http://schemas.openxmlformats.org/drawingml/2006/main">
            <a:off x="3520440" y="3776472"/>
            <a:ext cx="7269480" cy="384048"/>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a:bodyPr>
          <a:lstStyle xmlns:a="http://schemas.openxmlformats.org/drawingml/2006/main"/>
          <a:p xmlns:a="http://schemas.openxmlformats.org/drawingml/2006/main">
            <a:pPr marL="0" indent="0">
              <a:buNone/>
            </a:pPr>
            <a:r>
              <a:rPr sz="1330">
                <a:solidFill>
                  <a:srgbClr val="19142B"/>
                </a:solidFill>
              </a:rPr>
              <a:t>Define reconciliation cadence that respects API limits while keeping the partner UI fresh.</a:t>
            </a:r>
            <a:endParaRPr sz="1330"/>
          </a:p>
        </p:txBody>
      </p:sp>
      <p:sp>
        <p:nvSpPr>
          <p:cNvPr id="16" name="Shape 14">
            <a:extLst xmlns:a="http://schemas.openxmlformats.org/drawingml/2006/main">
              <a:ext uri="{FF2B5EF4-FFF2-40B4-BE49-F238E27FC236}">
                <a16:creationId xmlns:a16="http://schemas.microsoft.com/office/drawing/2014/main" id="{AC57F91B-C705-4672-9708-4AF7548E8D32}"/>
              </a:ext>
            </a:extLst>
          </p:cNvPr>
          <p:cNvSpPr>
            <a:spLocks xmlns:a="http://schemas.openxmlformats.org/drawingml/2006/main" noGrp="1"/>
          </p:cNvSpPr>
          <p:nvPr/>
        </p:nvSpPr>
        <p:spPr>
          <a:xfrm xmlns:a="http://schemas.openxmlformats.org/drawingml/2006/main">
            <a:off x="822960" y="4599432"/>
            <a:ext cx="2423160" cy="438912"/>
          </a:xfrm>
          <a:prstGeom xmlns:a="http://schemas.openxmlformats.org/drawingml/2006/main" prst="roundRect">
            <a:avLst>
              <a:gd name="adj" fmla="val 16667"/>
            </a:avLst>
          </a:prstGeom>
          <a:solidFill xmlns:a="http://schemas.openxmlformats.org/drawingml/2006/main">
            <a:srgbClr val="EEE8FF"/>
          </a:solidFill>
          <a:ln xmlns:a="http://schemas.openxmlformats.org/drawingml/2006/main" w="15240">
            <a:solidFill>
              <a:srgbClr val="5E36D7"/>
            </a:solidFill>
            <a:prstDash val="solid"/>
          </a:ln>
        </p:spPr>
      </p:sp>
      <p:sp>
        <p:nvSpPr>
          <p:cNvPr id="17" name="Text 15">
            <a:extLst xmlns:a="http://schemas.openxmlformats.org/drawingml/2006/main">
              <a:ext uri="{FF2B5EF4-FFF2-40B4-BE49-F238E27FC236}">
                <a16:creationId xmlns:a16="http://schemas.microsoft.com/office/drawing/2014/main" id="{673D0941-3BB1-40F0-886B-C0DA5CFE56CC}"/>
              </a:ext>
            </a:extLst>
          </p:cNvPr>
          <p:cNvSpPr>
            <a:spLocks xmlns:a="http://schemas.openxmlformats.org/drawingml/2006/main" noGrp="1"/>
          </p:cNvSpPr>
          <p:nvPr/>
        </p:nvSpPr>
        <p:spPr>
          <a:xfrm xmlns:a="http://schemas.openxmlformats.org/drawingml/2006/main">
            <a:off x="896112" y="4663440"/>
            <a:ext cx="2276856"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lgn="ctr">
              <a:buNone/>
            </a:pPr>
            <a:r>
              <a:rPr sz="1250" b="1">
                <a:solidFill>
                  <a:srgbClr val="5E36D7"/>
                </a:solidFill>
              </a:rPr>
              <a:t>Sandbox Validation</a:t>
            </a:r>
            <a:endParaRPr sz="1250"/>
          </a:p>
        </p:txBody>
      </p:sp>
      <p:sp>
        <p:nvSpPr>
          <p:cNvPr id="18" name="Text 16">
            <a:extLst xmlns:a="http://schemas.openxmlformats.org/drawingml/2006/main">
              <a:ext uri="{FF2B5EF4-FFF2-40B4-BE49-F238E27FC236}">
                <a16:creationId xmlns:a16="http://schemas.microsoft.com/office/drawing/2014/main" id="{BD6986C5-1841-4499-AE92-31CE887039F0}"/>
              </a:ext>
            </a:extLst>
          </p:cNvPr>
          <p:cNvSpPr>
            <a:spLocks xmlns:a="http://schemas.openxmlformats.org/drawingml/2006/main" noGrp="1"/>
          </p:cNvSpPr>
          <p:nvPr/>
        </p:nvSpPr>
        <p:spPr>
          <a:xfrm xmlns:a="http://schemas.openxmlformats.org/drawingml/2006/main">
            <a:off x="3520440" y="4617720"/>
            <a:ext cx="7269480" cy="384048"/>
          </a:xfrm>
          <a:prstGeom xmlns:a="http://schemas.openxmlformats.org/drawingml/2006/main" prst="rect">
            <a:avLst/>
          </a:prstGeom>
          <a:noFill xmlns:a="http://schemas.openxmlformats.org/drawingml/2006/main"/>
        </p:spPr>
        <p:txBody>
          <a:bodyPr xmlns:a="http://schemas.openxmlformats.org/drawingml/2006/main" wrap="square" lIns="889" tIns="889" rIns="889" bIns="889" anchor="ctr">
            <a:normAutofit fontScale="100000" lnSpcReduction="10000"/>
          </a:bodyPr>
          <a:lstStyle xmlns:a="http://schemas.openxmlformats.org/drawingml/2006/main"/>
          <a:p xmlns:a="http://schemas.openxmlformats.org/drawingml/2006/main">
            <a:pPr marL="0" indent="0">
              <a:buNone/>
            </a:pPr>
            <a:r>
              <a:rPr sz="1330">
                <a:solidFill>
                  <a:srgbClr val="19142B"/>
                </a:solidFill>
              </a:rPr>
              <a:t>For a future implementation, test required fields, failure paths, webhook replay, DLQ recovery, and support handoff.</a:t>
            </a:r>
            <a:endParaRPr sz="1330"/>
          </a:p>
        </p:txBody>
      </p:sp>
      <p:sp>
        <p:nvSpPr>
          <p:cNvPr id="25" name="Slide Number Placeholder 0">
            <a:extLst xmlns:a="http://schemas.openxmlformats.org/drawingml/2006/main">
              <a:ext uri="{FF2B5EF4-FFF2-40B4-BE49-F238E27FC236}">
                <a16:creationId xmlns:a16="http://schemas.microsoft.com/office/drawing/2014/main" id="{DA6C5BA3-3656-47E0-831F-A4D2FE5F1243}"/>
              </a:ext>
            </a:extLst>
          </p:cNvPr>
          <p:cNvSpPr>
            <a:spLocks xmlns:a="http://schemas.openxmlformats.org/drawingml/2006/main" noGrp="1"/>
          </p:cNvSpPr>
          <p:nvPr>
            <p:ph type="sldNum" idx="4294967295"/>
          </p:nvPr>
        </p:nvSpPr>
        <p:spPr>
          <a:xfrm xmlns:a="http://schemas.openxmlformats.org/drawingml/2006/main">
            <a:off x="11292840" y="653796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807A94"/>
                </a:solidFill>
              </a:defRPr>
            </a:lvl1pPr>
          </a:lstStyle>
          <a:p xmlns:a="http://schemas.openxmlformats.org/drawingml/2006/main">
            <a:pPr algn="l">
              <a:buNone/>
            </a:pPr>
            <a:fld id="{F7021451-1387-4CA6-816F-3879F97B5CBC}" type="slidenum">
              <a:rPr b="0"/>
              <a:t>18</a:t>
            </a:fld>
            <a:endParaRPr/>
          </a:p>
        </p:txBody>
      </p:sp>
    </p:spTree>
    <p:extLst>
      <p:ext uri="{BB962C8B-B14F-4D97-AF65-F5344CB8AC3E}">
        <p14:creationId xmlns:p14="http://schemas.microsoft.com/office/powerpoint/2010/main" val="321287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Workforce Platform Integration</dc:title>
  <dc:subject>Independent portfolio architecture exercise with fictional platforms</dc:subject>
  <dc:creator>James Delosh</dc:creator>
  <cp:lastModifiedBy/>
  <cp:revision>1</cp:revision>
  <dcterms:created xsi:type="dcterms:W3CDTF">2026-06-17T16:33:14Z</dcterms:created>
  <dcterms:modified xsi:type="dcterms:W3CDTF">2026-06-28T15:54:55Z</dcterms:modified>
</cp:coreProperties>
</file>